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Prospector is a lead-prospecting agent. You type a goal like 'find 15 physiotherapy clinics in Pune that would benefit from an AI phone receptionist'. The agent plans, uses real tools (OpenStreetMap and the businesses' own websites), recovers from failures, scores the leads with reasons, builds a live AI receptionist demo for the best ones, and improves its scoring from your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problems: building a call list by hand is slow, asking a plain LLM for leads gives you businesses that do not exist, and a list alone does not sell anything. The numbers on the right come from real runs saved in the repo: a 50-clinic dental run, and a physiotherapy run where three tool calls failed and the agent recovered and still finished inside its step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submission. One LLM call makes the plan. Then the agent picks one tool at a time, reads the result, and decides what to do next. Failures are observations, not crashes: when a map search times out it retries, widens the area, or moves on. State is written to disk after every step. I found and fixed a real issue during testing: on sparse niches the agent kept re-searching, so a wrap-up guard now forces it to finish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run page. You can see the plan, the agent loop phase, and each step as a card. Right: the live call. For the top leads the agent writes a receptionist persona from what it actually found, like real opening hours. You click call and talk to it in the browser in real time. If it does not know something, like a doctor's name, it offers to take a message instead of making it up, and the message is saved on the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gets better with use. You mark leads good or bad. The LLM suggests new scoring rules, but a suggestion is not trusted: every rule is tested on labeled leads it never saw, and only rules that raise accuracy are kept. The whole system is covered by 87 Python tests and 7 Playwright browser tests, including the live call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Nilesh\Downloads\code\prospector\docs\presentation\hero_crop.png">    </p:cNvPr>
          <p:cNvPicPr>
            <a:picLocks noChangeAspect="1"/>
          </p:cNvPicPr>
          <p:nvPr/>
        </p:nvPicPr>
        <p:blipFill>
          <a:blip r:embed="rId1"/>
          <a:stretch>
            <a:fillRect/>
          </a:stretch>
        </p:blipFill>
        <p:spPr>
          <a:xfrm>
            <a:off x="4206240" y="0"/>
            <a:ext cx="7985455" cy="6858000"/>
          </a:xfrm>
          <a:prstGeom prst="rect">
            <a:avLst/>
          </a:prstGeom>
        </p:spPr>
      </p:pic>
      <p:sp>
        <p:nvSpPr>
          <p:cNvPr id="3" name="Shape 0"/>
          <p:cNvSpPr/>
          <p:nvPr/>
        </p:nvSpPr>
        <p:spPr>
          <a:xfrm>
            <a:off x="640080" y="685800"/>
            <a:ext cx="3182112" cy="310896"/>
          </a:xfrm>
          <a:prstGeom prst="roundRect">
            <a:avLst>
              <a:gd name="adj" fmla="val 52941"/>
            </a:avLst>
          </a:prstGeom>
          <a:solidFill>
            <a:srgbClr val="14171C"/>
          </a:solidFill>
          <a:ln w="9525">
            <a:solidFill>
              <a:srgbClr val="14171C"/>
            </a:solidFill>
            <a:prstDash val="solid"/>
          </a:ln>
        </p:spPr>
      </p:sp>
      <p:sp>
        <p:nvSpPr>
          <p:cNvPr id="4" name="Text 1"/>
          <p:cNvSpPr txBox="1"/>
          <p:nvPr/>
        </p:nvSpPr>
        <p:spPr>
          <a:xfrm>
            <a:off x="640080" y="685800"/>
            <a:ext cx="3182112" cy="310896"/>
          </a:xfrm>
          <a:prstGeom prst="rect">
            <a:avLst/>
          </a:prstGeom>
          <a:noFill/>
          <a:ln/>
        </p:spPr>
        <p:txBody>
          <a:bodyPr wrap="square" lIns="0" tIns="0" rIns="0" bIns="0" rtlCol="0" anchor="ctr"/>
          <a:lstStyle/>
          <a:p>
            <a:pPr algn="ctr" indent="0" marL="0">
              <a:buNone/>
            </a:pPr>
            <a:r>
              <a:rPr lang="en-US" sz="1000" b="1" dirty="0">
                <a:solidFill>
                  <a:srgbClr val="D4FF3A"/>
                </a:solidFill>
                <a:latin typeface="Arial" pitchFamily="34" charset="0"/>
                <a:ea typeface="Arial" pitchFamily="34" charset="-122"/>
                <a:cs typeface="Arial" pitchFamily="34" charset="-120"/>
              </a:rPr>
              <a:t>TECHVRUK  ·  AI AGENTIC SYSTEM CHALLENGE</a:t>
            </a:r>
            <a:endParaRPr lang="en-US" sz="1000" dirty="0"/>
          </a:p>
        </p:txBody>
      </p:sp>
      <p:sp>
        <p:nvSpPr>
          <p:cNvPr id="5" name="Text 2"/>
          <p:cNvSpPr txBox="1"/>
          <p:nvPr/>
        </p:nvSpPr>
        <p:spPr>
          <a:xfrm>
            <a:off x="640080" y="1325880"/>
            <a:ext cx="4572000" cy="457200"/>
          </a:xfrm>
          <a:prstGeom prst="rect">
            <a:avLst/>
          </a:prstGeom>
          <a:noFill/>
          <a:ln/>
        </p:spPr>
        <p:txBody>
          <a:bodyPr wrap="square" lIns="0" tIns="0" rIns="0" bIns="0" rtlCol="0" anchor="t"/>
          <a:lstStyle/>
          <a:p>
            <a:pPr indent="0" marL="0">
              <a:buNone/>
            </a:pPr>
            <a:r>
              <a:rPr lang="en-US" sz="2000" b="1" dirty="0">
                <a:solidFill>
                  <a:srgbClr val="3F5A00"/>
                </a:solidFill>
                <a:latin typeface="Arial" pitchFamily="34" charset="0"/>
                <a:ea typeface="Arial" pitchFamily="34" charset="-122"/>
                <a:cs typeface="Arial" pitchFamily="34" charset="-120"/>
              </a:rPr>
              <a:t>Prospector</a:t>
            </a:r>
            <a:endParaRPr lang="en-US" sz="2000" dirty="0"/>
          </a:p>
        </p:txBody>
      </p:sp>
      <p:sp>
        <p:nvSpPr>
          <p:cNvPr id="6" name="Text 3"/>
          <p:cNvSpPr txBox="1"/>
          <p:nvPr/>
        </p:nvSpPr>
        <p:spPr>
          <a:xfrm>
            <a:off x="640080" y="1828800"/>
            <a:ext cx="4754880" cy="2194560"/>
          </a:xfrm>
          <a:prstGeom prst="rect">
            <a:avLst/>
          </a:prstGeom>
          <a:noFill/>
          <a:ln/>
        </p:spPr>
        <p:txBody>
          <a:bodyPr wrap="square" lIns="0" tIns="0" rIns="0" bIns="0" rtlCol="0" anchor="t"/>
          <a:lstStyle/>
          <a:p>
            <a:pPr indent="0" marL="0">
              <a:lnSpc>
                <a:spcPct val="95000"/>
              </a:lnSpc>
              <a:buNone/>
            </a:pPr>
            <a:r>
              <a:rPr lang="en-US" sz="4200" b="1" dirty="0">
                <a:solidFill>
                  <a:srgbClr val="14171C"/>
                </a:solidFill>
                <a:latin typeface="Arial" pitchFamily="34" charset="0"/>
                <a:ea typeface="Arial" pitchFamily="34" charset="-122"/>
                <a:cs typeface="Arial" pitchFamily="34" charset="-120"/>
              </a:rPr>
              <a:t>An AI agent that finds your next </a:t>
            </a:r>
            <a:pPr indent="0" marL="0">
              <a:lnSpc>
                <a:spcPct val="95000"/>
              </a:lnSpc>
              <a:buNone/>
            </a:pPr>
            <a:r>
              <a:rPr lang="en-US" sz="4200" i="1" dirty="0">
                <a:solidFill>
                  <a:srgbClr val="14171C"/>
                </a:solidFill>
                <a:highlight>
                  <a:srgbClr val="D4FF3A"/>
                </a:highlight>
                <a:latin typeface="Cambria" pitchFamily="34" charset="0"/>
                <a:ea typeface="Cambria" pitchFamily="34" charset="-122"/>
                <a:cs typeface="Cambria" pitchFamily="34" charset="-120"/>
              </a:rPr>
              <a:t>customers.</a:t>
            </a:r>
            <a:endParaRPr lang="en-US" sz="4200" dirty="0"/>
          </a:p>
        </p:txBody>
      </p:sp>
      <p:sp>
        <p:nvSpPr>
          <p:cNvPr id="7" name="Text 4"/>
          <p:cNvSpPr txBox="1"/>
          <p:nvPr/>
        </p:nvSpPr>
        <p:spPr>
          <a:xfrm>
            <a:off x="640080" y="4160520"/>
            <a:ext cx="4480560" cy="1463040"/>
          </a:xfrm>
          <a:prstGeom prst="rect">
            <a:avLst/>
          </a:prstGeom>
          <a:noFill/>
          <a:ln/>
        </p:spPr>
        <p:txBody>
          <a:bodyPr wrap="square" lIns="0" tIns="0" rIns="0" bIns="0" rtlCol="0" anchor="t"/>
          <a:lstStyle/>
          <a:p>
            <a:pPr indent="0" marL="0">
              <a:lnSpc>
                <a:spcPct val="110000"/>
              </a:lnSpc>
              <a:buNone/>
            </a:pPr>
            <a:r>
              <a:rPr lang="en-US" sz="1500" dirty="0">
                <a:solidFill>
                  <a:srgbClr val="5B6270"/>
                </a:solidFill>
                <a:latin typeface="Calibri" pitchFamily="34" charset="0"/>
                <a:ea typeface="Calibri" pitchFamily="34" charset="-122"/>
                <a:cs typeface="Calibri" pitchFamily="34" charset="-120"/>
              </a:rPr>
              <a:t>Give it a goal in plain English. It plans, searches real maps and websites, recovers when a step fails, scores every lead with reasons, sets up a live AI receptionist you can call for the best ones, and learns what a good lead means to you.</a:t>
            </a:r>
            <a:endParaRPr lang="en-US" sz="1500" dirty="0"/>
          </a:p>
        </p:txBody>
      </p:sp>
      <p:sp>
        <p:nvSpPr>
          <p:cNvPr id="8" name="Text 5"/>
          <p:cNvSpPr txBox="1"/>
          <p:nvPr/>
        </p:nvSpPr>
        <p:spPr>
          <a:xfrm>
            <a:off x="640080" y="6035040"/>
            <a:ext cx="6400800" cy="320040"/>
          </a:xfrm>
          <a:prstGeom prst="rect">
            <a:avLst/>
          </a:prstGeom>
          <a:noFill/>
          <a:ln/>
        </p:spPr>
        <p:txBody>
          <a:bodyPr wrap="square" lIns="0" tIns="0" rIns="0" bIns="0" rtlCol="0" anchor="t"/>
          <a:lstStyle/>
          <a:p>
            <a:pPr indent="0" marL="0">
              <a:buNone/>
            </a:pPr>
            <a:r>
              <a:rPr lang="en-US" sz="1100" b="1" dirty="0">
                <a:solidFill>
                  <a:srgbClr val="14171C"/>
                </a:solidFill>
                <a:latin typeface="Calibri" pitchFamily="34" charset="0"/>
                <a:ea typeface="Calibri" pitchFamily="34" charset="-122"/>
                <a:cs typeface="Calibri" pitchFamily="34" charset="-120"/>
              </a:rPr>
              <a:t>Nilesh Patil</a:t>
            </a:r>
            <a:pPr indent="0" marL="0">
              <a:buNone/>
            </a:pPr>
            <a:r>
              <a:rPr lang="en-US" sz="1100" dirty="0">
                <a:solidFill>
                  <a:srgbClr val="5B6270"/>
                </a:solidFill>
                <a:latin typeface="Calibri" pitchFamily="34" charset="0"/>
                <a:ea typeface="Calibri" pitchFamily="34" charset="-122"/>
                <a:cs typeface="Calibri" pitchFamily="34" charset="-120"/>
              </a:rPr>
              <a:t>   Python · FastAPI · Next.js · Gemini · Gemini Live · OpenStreetMap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914400"/>
          </a:xfrm>
          <a:prstGeom prst="rect">
            <a:avLst/>
          </a:prstGeom>
          <a:noFill/>
          <a:ln/>
        </p:spPr>
        <p:txBody>
          <a:bodyPr wrap="square" lIns="0" tIns="0" rIns="0" bIns="0" rtlCol="0" anchor="ctr"/>
          <a:lstStyle/>
          <a:p>
            <a:pPr indent="0" marL="0">
              <a:buNone/>
            </a:pPr>
            <a:r>
              <a:rPr lang="en-US" sz="3000" b="1" dirty="0">
                <a:solidFill>
                  <a:srgbClr val="14171C"/>
                </a:solidFill>
                <a:latin typeface="Arial" pitchFamily="34" charset="0"/>
                <a:ea typeface="Arial" pitchFamily="34" charset="-122"/>
                <a:cs typeface="Arial" pitchFamily="34" charset="-120"/>
              </a:rPr>
              <a:t>Every sales list today is either </a:t>
            </a:r>
            <a:pPr indent="0" marL="0">
              <a:buNone/>
            </a:pPr>
            <a:r>
              <a:rPr lang="en-US" sz="3000" b="1" i="1" dirty="0">
                <a:solidFill>
                  <a:srgbClr val="14171C"/>
                </a:solidFill>
                <a:highlight>
                  <a:srgbClr val="D4FF3A"/>
                </a:highlight>
                <a:latin typeface="Cambria" pitchFamily="34" charset="0"/>
                <a:ea typeface="Cambria" pitchFamily="34" charset="-122"/>
                <a:cs typeface="Cambria" pitchFamily="34" charset="-120"/>
              </a:rPr>
              <a:t>slow or made up.</a:t>
            </a:r>
            <a:endParaRPr lang="en-US" sz="3000" dirty="0"/>
          </a:p>
        </p:txBody>
      </p:sp>
      <p:sp>
        <p:nvSpPr>
          <p:cNvPr id="3" name="Text 1"/>
          <p:cNvSpPr txBox="1"/>
          <p:nvPr/>
        </p:nvSpPr>
        <p:spPr>
          <a:xfrm>
            <a:off x="640080" y="1691640"/>
            <a:ext cx="4572000" cy="274320"/>
          </a:xfrm>
          <a:prstGeom prst="rect">
            <a:avLst/>
          </a:prstGeom>
          <a:noFill/>
          <a:ln/>
        </p:spPr>
        <p:txBody>
          <a:bodyPr wrap="square" lIns="0" tIns="0" rIns="0" bIns="0" rtlCol="0" anchor="t"/>
          <a:lstStyle/>
          <a:p>
            <a:pPr indent="0" marL="0">
              <a:buNone/>
            </a:pPr>
            <a:r>
              <a:rPr lang="en-US" sz="1100" b="1" spc="200" kern="0" dirty="0">
                <a:solidFill>
                  <a:srgbClr val="5B6270"/>
                </a:solidFill>
                <a:latin typeface="Arial" pitchFamily="34" charset="0"/>
                <a:ea typeface="Arial" pitchFamily="34" charset="-122"/>
                <a:cs typeface="Arial" pitchFamily="34" charset="-120"/>
              </a:rPr>
              <a:t>THE PROBLEM</a:t>
            </a:r>
            <a:endParaRPr lang="en-US" sz="1100" dirty="0"/>
          </a:p>
        </p:txBody>
      </p:sp>
      <p:sp>
        <p:nvSpPr>
          <p:cNvPr id="4" name="Shape 2"/>
          <p:cNvSpPr/>
          <p:nvPr/>
        </p:nvSpPr>
        <p:spPr>
          <a:xfrm>
            <a:off x="640080" y="2148840"/>
            <a:ext cx="457200" cy="457200"/>
          </a:xfrm>
          <a:prstGeom prst="ellipse">
            <a:avLst/>
          </a:prstGeom>
          <a:solidFill>
            <a:srgbClr val="FDE7E4"/>
          </a:solidFill>
          <a:ln w="12700">
            <a:solidFill>
              <a:srgbClr val="FDE7E4"/>
            </a:solidFill>
            <a:prstDash val="solid"/>
          </a:ln>
        </p:spPr>
      </p:sp>
      <p:sp>
        <p:nvSpPr>
          <p:cNvPr id="5" name="Text 3"/>
          <p:cNvSpPr txBox="1"/>
          <p:nvPr/>
        </p:nvSpPr>
        <p:spPr>
          <a:xfrm>
            <a:off x="640080" y="2148840"/>
            <a:ext cx="457200" cy="457200"/>
          </a:xfrm>
          <a:prstGeom prst="rect">
            <a:avLst/>
          </a:prstGeom>
          <a:noFill/>
          <a:ln/>
        </p:spPr>
        <p:txBody>
          <a:bodyPr wrap="square" lIns="0" tIns="0" rIns="0" bIns="0" rtlCol="0" anchor="ctr"/>
          <a:lstStyle/>
          <a:p>
            <a:pPr algn="ctr" indent="0" marL="0">
              <a:buNone/>
            </a:pPr>
            <a:r>
              <a:rPr lang="en-US" sz="1300" b="1" dirty="0">
                <a:solidFill>
                  <a:srgbClr val="D9443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325880" y="2130552"/>
            <a:ext cx="4297680" cy="365760"/>
          </a:xfrm>
          <a:prstGeom prst="rect">
            <a:avLst/>
          </a:prstGeom>
          <a:noFill/>
          <a:ln/>
        </p:spPr>
        <p:txBody>
          <a:bodyPr wrap="square" lIns="0" tIns="0" rIns="0" bIns="0" rtlCol="0" anchor="t"/>
          <a:lstStyle/>
          <a:p>
            <a:pPr indent="0" marL="0">
              <a:buNone/>
            </a:pPr>
            <a:r>
              <a:rPr lang="en-US" sz="1800" b="1" dirty="0">
                <a:solidFill>
                  <a:srgbClr val="14171C"/>
                </a:solidFill>
                <a:latin typeface="Arial" pitchFamily="34" charset="0"/>
                <a:ea typeface="Arial" pitchFamily="34" charset="-122"/>
                <a:cs typeface="Arial" pitchFamily="34" charset="-120"/>
              </a:rPr>
              <a:t>Slow</a:t>
            </a:r>
            <a:endParaRPr lang="en-US" sz="1800" dirty="0"/>
          </a:p>
        </p:txBody>
      </p:sp>
      <p:sp>
        <p:nvSpPr>
          <p:cNvPr id="7" name="Text 5"/>
          <p:cNvSpPr txBox="1"/>
          <p:nvPr/>
        </p:nvSpPr>
        <p:spPr>
          <a:xfrm>
            <a:off x="1325880" y="2514600"/>
            <a:ext cx="4297680" cy="777240"/>
          </a:xfrm>
          <a:prstGeom prst="rect">
            <a:avLst/>
          </a:prstGeom>
          <a:noFill/>
          <a:ln/>
        </p:spPr>
        <p:txBody>
          <a:bodyPr wrap="square" lIns="0" tIns="0" rIns="0" bIns="0" rtlCol="0" anchor="t"/>
          <a:lstStyle/>
          <a:p>
            <a:pPr indent="0" marL="0">
              <a:buNone/>
            </a:pPr>
            <a:r>
              <a:rPr lang="en-US" sz="1400" dirty="0">
                <a:solidFill>
                  <a:srgbClr val="5B6270"/>
                </a:solidFill>
                <a:latin typeface="Calibri" pitchFamily="34" charset="0"/>
                <a:ea typeface="Calibri" pitchFamily="34" charset="-122"/>
                <a:cs typeface="Calibri" pitchFamily="34" charset="-120"/>
              </a:rPr>
              <a:t>Someone searches Maps business by business, opens every website, and guesses who might buy.</a:t>
            </a:r>
            <a:endParaRPr lang="en-US" sz="1400" dirty="0"/>
          </a:p>
        </p:txBody>
      </p:sp>
      <p:sp>
        <p:nvSpPr>
          <p:cNvPr id="8" name="Shape 6"/>
          <p:cNvSpPr/>
          <p:nvPr/>
        </p:nvSpPr>
        <p:spPr>
          <a:xfrm>
            <a:off x="640080" y="3474720"/>
            <a:ext cx="457200" cy="457200"/>
          </a:xfrm>
          <a:prstGeom prst="ellipse">
            <a:avLst/>
          </a:prstGeom>
          <a:solidFill>
            <a:srgbClr val="FDE7E4"/>
          </a:solidFill>
          <a:ln w="12700">
            <a:solidFill>
              <a:srgbClr val="FDE7E4"/>
            </a:solidFill>
            <a:prstDash val="solid"/>
          </a:ln>
        </p:spPr>
      </p:sp>
      <p:sp>
        <p:nvSpPr>
          <p:cNvPr id="9" name="Text 7"/>
          <p:cNvSpPr txBox="1"/>
          <p:nvPr/>
        </p:nvSpPr>
        <p:spPr>
          <a:xfrm>
            <a:off x="640080" y="3474720"/>
            <a:ext cx="457200" cy="457200"/>
          </a:xfrm>
          <a:prstGeom prst="rect">
            <a:avLst/>
          </a:prstGeom>
          <a:noFill/>
          <a:ln/>
        </p:spPr>
        <p:txBody>
          <a:bodyPr wrap="square" lIns="0" tIns="0" rIns="0" bIns="0" rtlCol="0" anchor="ctr"/>
          <a:lstStyle/>
          <a:p>
            <a:pPr algn="ctr" indent="0" marL="0">
              <a:buNone/>
            </a:pPr>
            <a:r>
              <a:rPr lang="en-US" sz="1300" b="1" dirty="0">
                <a:solidFill>
                  <a:srgbClr val="D9443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1325880" y="3456432"/>
            <a:ext cx="4297680" cy="365760"/>
          </a:xfrm>
          <a:prstGeom prst="rect">
            <a:avLst/>
          </a:prstGeom>
          <a:noFill/>
          <a:ln/>
        </p:spPr>
        <p:txBody>
          <a:bodyPr wrap="square" lIns="0" tIns="0" rIns="0" bIns="0" rtlCol="0" anchor="t"/>
          <a:lstStyle/>
          <a:p>
            <a:pPr indent="0" marL="0">
              <a:buNone/>
            </a:pPr>
            <a:r>
              <a:rPr lang="en-US" sz="1800" b="1" dirty="0">
                <a:solidFill>
                  <a:srgbClr val="14171C"/>
                </a:solidFill>
                <a:latin typeface="Arial" pitchFamily="34" charset="0"/>
                <a:ea typeface="Arial" pitchFamily="34" charset="-122"/>
                <a:cs typeface="Arial" pitchFamily="34" charset="-120"/>
              </a:rPr>
              <a:t>Made up</a:t>
            </a:r>
            <a:endParaRPr lang="en-US" sz="1800" dirty="0"/>
          </a:p>
        </p:txBody>
      </p:sp>
      <p:sp>
        <p:nvSpPr>
          <p:cNvPr id="11" name="Text 9"/>
          <p:cNvSpPr txBox="1"/>
          <p:nvPr/>
        </p:nvSpPr>
        <p:spPr>
          <a:xfrm>
            <a:off x="1325880" y="3840480"/>
            <a:ext cx="4297680" cy="777240"/>
          </a:xfrm>
          <a:prstGeom prst="rect">
            <a:avLst/>
          </a:prstGeom>
          <a:noFill/>
          <a:ln/>
        </p:spPr>
        <p:txBody>
          <a:bodyPr wrap="square" lIns="0" tIns="0" rIns="0" bIns="0" rtlCol="0" anchor="t"/>
          <a:lstStyle/>
          <a:p>
            <a:pPr indent="0" marL="0">
              <a:buNone/>
            </a:pPr>
            <a:r>
              <a:rPr lang="en-US" sz="1400" dirty="0">
                <a:solidFill>
                  <a:srgbClr val="5B6270"/>
                </a:solidFill>
                <a:latin typeface="Calibri" pitchFamily="34" charset="0"/>
                <a:ea typeface="Calibri" pitchFamily="34" charset="-122"/>
                <a:cs typeface="Calibri" pitchFamily="34" charset="-120"/>
              </a:rPr>
              <a:t>Ask a chatbot for 30 leads and it invents clinics, phone numbers and doctors that do not exist.</a:t>
            </a:r>
            <a:endParaRPr lang="en-US" sz="1400" dirty="0"/>
          </a:p>
        </p:txBody>
      </p:sp>
      <p:sp>
        <p:nvSpPr>
          <p:cNvPr id="12" name="Shape 10"/>
          <p:cNvSpPr/>
          <p:nvPr/>
        </p:nvSpPr>
        <p:spPr>
          <a:xfrm>
            <a:off x="640080" y="4800600"/>
            <a:ext cx="457200" cy="457200"/>
          </a:xfrm>
          <a:prstGeom prst="ellipse">
            <a:avLst/>
          </a:prstGeom>
          <a:solidFill>
            <a:srgbClr val="FDE7E4"/>
          </a:solidFill>
          <a:ln w="12700">
            <a:solidFill>
              <a:srgbClr val="FDE7E4"/>
            </a:solidFill>
            <a:prstDash val="solid"/>
          </a:ln>
        </p:spPr>
      </p:sp>
      <p:sp>
        <p:nvSpPr>
          <p:cNvPr id="13" name="Text 11"/>
          <p:cNvSpPr txBox="1"/>
          <p:nvPr/>
        </p:nvSpPr>
        <p:spPr>
          <a:xfrm>
            <a:off x="640080" y="4800600"/>
            <a:ext cx="457200" cy="457200"/>
          </a:xfrm>
          <a:prstGeom prst="rect">
            <a:avLst/>
          </a:prstGeom>
          <a:noFill/>
          <a:ln/>
        </p:spPr>
        <p:txBody>
          <a:bodyPr wrap="square" lIns="0" tIns="0" rIns="0" bIns="0" rtlCol="0" anchor="ctr"/>
          <a:lstStyle/>
          <a:p>
            <a:pPr algn="ctr" indent="0" marL="0">
              <a:buNone/>
            </a:pPr>
            <a:r>
              <a:rPr lang="en-US" sz="1300" b="1" dirty="0">
                <a:solidFill>
                  <a:srgbClr val="D9443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1325880" y="4782312"/>
            <a:ext cx="4297680" cy="365760"/>
          </a:xfrm>
          <a:prstGeom prst="rect">
            <a:avLst/>
          </a:prstGeom>
          <a:noFill/>
          <a:ln/>
        </p:spPr>
        <p:txBody>
          <a:bodyPr wrap="square" lIns="0" tIns="0" rIns="0" bIns="0" rtlCol="0" anchor="t"/>
          <a:lstStyle/>
          <a:p>
            <a:pPr indent="0" marL="0">
              <a:buNone/>
            </a:pPr>
            <a:r>
              <a:rPr lang="en-US" sz="1800" b="1" dirty="0">
                <a:solidFill>
                  <a:srgbClr val="14171C"/>
                </a:solidFill>
                <a:latin typeface="Arial" pitchFamily="34" charset="0"/>
                <a:ea typeface="Arial" pitchFamily="34" charset="-122"/>
                <a:cs typeface="Arial" pitchFamily="34" charset="-120"/>
              </a:rPr>
              <a:t>Unconvincing</a:t>
            </a:r>
            <a:endParaRPr lang="en-US" sz="1800" dirty="0"/>
          </a:p>
        </p:txBody>
      </p:sp>
      <p:sp>
        <p:nvSpPr>
          <p:cNvPr id="15" name="Text 13"/>
          <p:cNvSpPr txBox="1"/>
          <p:nvPr/>
        </p:nvSpPr>
        <p:spPr>
          <a:xfrm>
            <a:off x="1325880" y="5166360"/>
            <a:ext cx="4297680" cy="777240"/>
          </a:xfrm>
          <a:prstGeom prst="rect">
            <a:avLst/>
          </a:prstGeom>
          <a:noFill/>
          <a:ln/>
        </p:spPr>
        <p:txBody>
          <a:bodyPr wrap="square" lIns="0" tIns="0" rIns="0" bIns="0" rtlCol="0" anchor="t"/>
          <a:lstStyle/>
          <a:p>
            <a:pPr indent="0" marL="0">
              <a:buNone/>
            </a:pPr>
            <a:r>
              <a:rPr lang="en-US" sz="1400" dirty="0">
                <a:solidFill>
                  <a:srgbClr val="5B6270"/>
                </a:solidFill>
                <a:latin typeface="Calibri" pitchFamily="34" charset="0"/>
                <a:ea typeface="Calibri" pitchFamily="34" charset="-122"/>
                <a:cs typeface="Calibri" pitchFamily="34" charset="-120"/>
              </a:rPr>
              <a:t>A spreadsheet row does not show a business owner what an AI receptionist would do for them.</a:t>
            </a:r>
            <a:endParaRPr lang="en-US" sz="1400" dirty="0"/>
          </a:p>
        </p:txBody>
      </p:sp>
      <p:sp>
        <p:nvSpPr>
          <p:cNvPr id="16" name="Shape 14"/>
          <p:cNvSpPr/>
          <p:nvPr/>
        </p:nvSpPr>
        <p:spPr>
          <a:xfrm>
            <a:off x="6172200" y="1645920"/>
            <a:ext cx="5376672" cy="4663440"/>
          </a:xfrm>
          <a:prstGeom prst="roundRect">
            <a:avLst>
              <a:gd name="adj" fmla="val 3922"/>
            </a:avLst>
          </a:prstGeom>
          <a:solidFill>
            <a:srgbClr val="F4F6F0"/>
          </a:solidFill>
          <a:ln w="9525">
            <a:solidFill>
              <a:srgbClr val="E3E6DE"/>
            </a:solidFill>
            <a:prstDash val="solid"/>
          </a:ln>
        </p:spPr>
      </p:sp>
      <p:sp>
        <p:nvSpPr>
          <p:cNvPr id="17" name="Text 15"/>
          <p:cNvSpPr txBox="1"/>
          <p:nvPr/>
        </p:nvSpPr>
        <p:spPr>
          <a:xfrm>
            <a:off x="6537960" y="1920240"/>
            <a:ext cx="4754880" cy="274320"/>
          </a:xfrm>
          <a:prstGeom prst="rect">
            <a:avLst/>
          </a:prstGeom>
          <a:noFill/>
          <a:ln/>
        </p:spPr>
        <p:txBody>
          <a:bodyPr wrap="square" lIns="0" tIns="0" rIns="0" bIns="0" rtlCol="0" anchor="t"/>
          <a:lstStyle/>
          <a:p>
            <a:pPr indent="0" marL="0">
              <a:buNone/>
            </a:pPr>
            <a:r>
              <a:rPr lang="en-US" sz="1100" b="1" spc="200" kern="0" dirty="0">
                <a:solidFill>
                  <a:srgbClr val="3F5A00"/>
                </a:solidFill>
                <a:latin typeface="Arial" pitchFamily="34" charset="0"/>
                <a:ea typeface="Arial" pitchFamily="34" charset="-122"/>
                <a:cs typeface="Arial" pitchFamily="34" charset="-120"/>
              </a:rPr>
              <a:t>WHAT PROSPECTOR DID ON REAL RUNS IN PUNE</a:t>
            </a:r>
            <a:endParaRPr lang="en-US" sz="1100" dirty="0"/>
          </a:p>
        </p:txBody>
      </p:sp>
      <p:sp>
        <p:nvSpPr>
          <p:cNvPr id="18" name="Text 16"/>
          <p:cNvSpPr txBox="1"/>
          <p:nvPr/>
        </p:nvSpPr>
        <p:spPr>
          <a:xfrm>
            <a:off x="6537960" y="2377440"/>
            <a:ext cx="1371600" cy="914400"/>
          </a:xfrm>
          <a:prstGeom prst="rect">
            <a:avLst/>
          </a:prstGeom>
          <a:noFill/>
          <a:ln/>
        </p:spPr>
        <p:txBody>
          <a:bodyPr wrap="square" lIns="0" tIns="0" rIns="0" bIns="0" rtlCol="0" anchor="ctr"/>
          <a:lstStyle/>
          <a:p>
            <a:pPr indent="0" marL="0">
              <a:buNone/>
            </a:pPr>
            <a:r>
              <a:rPr lang="en-US" sz="5400" b="1" dirty="0">
                <a:solidFill>
                  <a:srgbClr val="14171C"/>
                </a:solidFill>
                <a:latin typeface="Arial" pitchFamily="34" charset="0"/>
                <a:ea typeface="Arial" pitchFamily="34" charset="-122"/>
                <a:cs typeface="Arial" pitchFamily="34" charset="-120"/>
              </a:rPr>
              <a:t>50</a:t>
            </a:r>
            <a:endParaRPr lang="en-US" sz="5400" dirty="0"/>
          </a:p>
        </p:txBody>
      </p:sp>
      <p:sp>
        <p:nvSpPr>
          <p:cNvPr id="19" name="Text 17"/>
          <p:cNvSpPr txBox="1"/>
          <p:nvPr/>
        </p:nvSpPr>
        <p:spPr>
          <a:xfrm>
            <a:off x="7726680" y="2487168"/>
            <a:ext cx="3566160" cy="822960"/>
          </a:xfrm>
          <a:prstGeom prst="rect">
            <a:avLst/>
          </a:prstGeom>
          <a:noFill/>
          <a:ln/>
        </p:spPr>
        <p:txBody>
          <a:bodyPr wrap="square" lIns="0" tIns="0" rIns="0" bIns="0" rtlCol="0" anchor="ctr"/>
          <a:lstStyle/>
          <a:p>
            <a:pPr indent="0" marL="0">
              <a:buNone/>
            </a:pPr>
            <a:r>
              <a:rPr lang="en-US" sz="1400" dirty="0">
                <a:solidFill>
                  <a:srgbClr val="5B6270"/>
                </a:solidFill>
                <a:latin typeface="Calibri" pitchFamily="34" charset="0"/>
                <a:ea typeface="Calibri" pitchFamily="34" charset="-122"/>
                <a:cs typeface="Calibri" pitchFamily="34" charset="-120"/>
              </a:rPr>
              <a:t>real dental clinics found in one run, each one traced back to OpenStreetMap</a:t>
            </a:r>
            <a:endParaRPr lang="en-US" sz="1400" dirty="0"/>
          </a:p>
        </p:txBody>
      </p:sp>
      <p:sp>
        <p:nvSpPr>
          <p:cNvPr id="20" name="Text 18"/>
          <p:cNvSpPr txBox="1"/>
          <p:nvPr/>
        </p:nvSpPr>
        <p:spPr>
          <a:xfrm>
            <a:off x="6537960" y="3657600"/>
            <a:ext cx="1371600" cy="914400"/>
          </a:xfrm>
          <a:prstGeom prst="rect">
            <a:avLst/>
          </a:prstGeom>
          <a:noFill/>
          <a:ln/>
        </p:spPr>
        <p:txBody>
          <a:bodyPr wrap="square" lIns="0" tIns="0" rIns="0" bIns="0" rtlCol="0" anchor="ctr"/>
          <a:lstStyle/>
          <a:p>
            <a:pPr indent="0" marL="0">
              <a:buNone/>
            </a:pPr>
            <a:r>
              <a:rPr lang="en-US" sz="5400" b="1" dirty="0">
                <a:solidFill>
                  <a:srgbClr val="14171C"/>
                </a:solidFill>
                <a:latin typeface="Arial" pitchFamily="34" charset="0"/>
                <a:ea typeface="Arial" pitchFamily="34" charset="-122"/>
                <a:cs typeface="Arial" pitchFamily="34" charset="-120"/>
              </a:rPr>
              <a:t>3</a:t>
            </a:r>
            <a:endParaRPr lang="en-US" sz="5400" dirty="0"/>
          </a:p>
        </p:txBody>
      </p:sp>
      <p:sp>
        <p:nvSpPr>
          <p:cNvPr id="21" name="Text 19"/>
          <p:cNvSpPr txBox="1"/>
          <p:nvPr/>
        </p:nvSpPr>
        <p:spPr>
          <a:xfrm>
            <a:off x="7726680" y="3767328"/>
            <a:ext cx="3566160" cy="822960"/>
          </a:xfrm>
          <a:prstGeom prst="rect">
            <a:avLst/>
          </a:prstGeom>
          <a:noFill/>
          <a:ln/>
        </p:spPr>
        <p:txBody>
          <a:bodyPr wrap="square" lIns="0" tIns="0" rIns="0" bIns="0" rtlCol="0" anchor="ctr"/>
          <a:lstStyle/>
          <a:p>
            <a:pPr indent="0" marL="0">
              <a:buNone/>
            </a:pPr>
            <a:r>
              <a:rPr lang="en-US" sz="1400" dirty="0">
                <a:solidFill>
                  <a:srgbClr val="5B6270"/>
                </a:solidFill>
                <a:latin typeface="Calibri" pitchFamily="34" charset="0"/>
                <a:ea typeface="Calibri" pitchFamily="34" charset="-122"/>
                <a:cs typeface="Calibri" pitchFamily="34" charset="-120"/>
              </a:rPr>
              <a:t>failed tool calls recovered from in the physiotherapy run, still finished in 18 of 20 steps</a:t>
            </a:r>
            <a:endParaRPr lang="en-US" sz="1400" dirty="0"/>
          </a:p>
        </p:txBody>
      </p:sp>
      <p:sp>
        <p:nvSpPr>
          <p:cNvPr id="22" name="Text 20"/>
          <p:cNvSpPr txBox="1"/>
          <p:nvPr/>
        </p:nvSpPr>
        <p:spPr>
          <a:xfrm>
            <a:off x="6537960" y="4937760"/>
            <a:ext cx="1371600" cy="914400"/>
          </a:xfrm>
          <a:prstGeom prst="rect">
            <a:avLst/>
          </a:prstGeom>
          <a:noFill/>
          <a:ln/>
        </p:spPr>
        <p:txBody>
          <a:bodyPr wrap="square" lIns="0" tIns="0" rIns="0" bIns="0" rtlCol="0" anchor="ctr"/>
          <a:lstStyle/>
          <a:p>
            <a:pPr indent="0" marL="0">
              <a:buNone/>
            </a:pPr>
            <a:r>
              <a:rPr lang="en-US" sz="5400" b="1" dirty="0">
                <a:solidFill>
                  <a:srgbClr val="14171C"/>
                </a:solidFill>
                <a:latin typeface="Arial" pitchFamily="34" charset="0"/>
                <a:ea typeface="Arial" pitchFamily="34" charset="-122"/>
                <a:cs typeface="Arial" pitchFamily="34" charset="-120"/>
              </a:rPr>
              <a:t>0</a:t>
            </a:r>
            <a:endParaRPr lang="en-US" sz="5400" dirty="0"/>
          </a:p>
        </p:txBody>
      </p:sp>
      <p:sp>
        <p:nvSpPr>
          <p:cNvPr id="23" name="Text 21"/>
          <p:cNvSpPr txBox="1"/>
          <p:nvPr/>
        </p:nvSpPr>
        <p:spPr>
          <a:xfrm>
            <a:off x="7726680" y="5047488"/>
            <a:ext cx="3566160" cy="822960"/>
          </a:xfrm>
          <a:prstGeom prst="rect">
            <a:avLst/>
          </a:prstGeom>
          <a:noFill/>
          <a:ln/>
        </p:spPr>
        <p:txBody>
          <a:bodyPr wrap="square" lIns="0" tIns="0" rIns="0" bIns="0" rtlCol="0" anchor="ctr"/>
          <a:lstStyle/>
          <a:p>
            <a:pPr indent="0" marL="0">
              <a:buNone/>
            </a:pPr>
            <a:r>
              <a:rPr lang="en-US" sz="1400" dirty="0">
                <a:solidFill>
                  <a:srgbClr val="5B6270"/>
                </a:solidFill>
                <a:latin typeface="Calibri" pitchFamily="34" charset="0"/>
                <a:ea typeface="Calibri" pitchFamily="34" charset="-122"/>
                <a:cs typeface="Calibri" pitchFamily="34" charset="-120"/>
              </a:rPr>
              <a:t>businesses or facts invented. Anything not observed is shown as "not observed"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914400"/>
          </a:xfrm>
          <a:prstGeom prst="rect">
            <a:avLst/>
          </a:prstGeom>
          <a:noFill/>
          <a:ln/>
        </p:spPr>
        <p:txBody>
          <a:bodyPr wrap="square" lIns="0" tIns="0" rIns="0" bIns="0" rtlCol="0" anchor="ctr"/>
          <a:lstStyle/>
          <a:p>
            <a:pPr indent="0" marL="0">
              <a:buNone/>
            </a:pPr>
            <a:r>
              <a:rPr lang="en-US" sz="3000" b="1" dirty="0">
                <a:solidFill>
                  <a:srgbClr val="14171C"/>
                </a:solidFill>
                <a:latin typeface="Arial" pitchFamily="34" charset="0"/>
                <a:ea typeface="Arial" pitchFamily="34" charset="-122"/>
                <a:cs typeface="Arial" pitchFamily="34" charset="-120"/>
              </a:rPr>
              <a:t>Plan, act, observe, re-plan: </a:t>
            </a:r>
            <a:pPr indent="0" marL="0">
              <a:buNone/>
            </a:pPr>
            <a:r>
              <a:rPr lang="en-US" sz="3000" b="1" i="1" dirty="0">
                <a:solidFill>
                  <a:srgbClr val="14171C"/>
                </a:solidFill>
                <a:highlight>
                  <a:srgbClr val="D4FF3A"/>
                </a:highlight>
                <a:latin typeface="Cambria" pitchFamily="34" charset="0"/>
                <a:ea typeface="Cambria" pitchFamily="34" charset="-122"/>
                <a:cs typeface="Cambria" pitchFamily="34" charset="-120"/>
              </a:rPr>
              <a:t>a real agent loop.</a:t>
            </a:r>
            <a:endParaRPr lang="en-US" sz="3000" dirty="0"/>
          </a:p>
        </p:txBody>
      </p:sp>
      <p:sp>
        <p:nvSpPr>
          <p:cNvPr id="3" name="Shape 1"/>
          <p:cNvSpPr/>
          <p:nvPr/>
        </p:nvSpPr>
        <p:spPr>
          <a:xfrm>
            <a:off x="640080" y="1783080"/>
            <a:ext cx="1600200" cy="1600200"/>
          </a:xfrm>
          <a:prstGeom prst="roundRect">
            <a:avLst>
              <a:gd name="adj" fmla="val 8000"/>
            </a:avLst>
          </a:prstGeom>
          <a:solidFill>
            <a:srgbClr val="14171C"/>
          </a:solidFill>
          <a:ln w="9525">
            <a:solidFill>
              <a:srgbClr val="14171C"/>
            </a:solidFill>
            <a:prstDash val="solid"/>
          </a:ln>
        </p:spPr>
      </p:sp>
      <p:sp>
        <p:nvSpPr>
          <p:cNvPr id="4" name="Text 2"/>
          <p:cNvSpPr txBox="1"/>
          <p:nvPr/>
        </p:nvSpPr>
        <p:spPr>
          <a:xfrm>
            <a:off x="786384" y="1929384"/>
            <a:ext cx="1307592" cy="274320"/>
          </a:xfrm>
          <a:prstGeom prst="rect">
            <a:avLst/>
          </a:prstGeom>
          <a:noFill/>
          <a:ln/>
        </p:spPr>
        <p:txBody>
          <a:bodyPr wrap="square" lIns="0" tIns="0" rIns="0" bIns="0" rtlCol="0" anchor="t"/>
          <a:lstStyle/>
          <a:p>
            <a:pPr indent="0" marL="0">
              <a:buNone/>
            </a:pPr>
            <a:r>
              <a:rPr lang="en-US" sz="1200" b="1" dirty="0">
                <a:solidFill>
                  <a:srgbClr val="D4FF3A"/>
                </a:solidFill>
                <a:latin typeface="Courier New" pitchFamily="34" charset="0"/>
                <a:ea typeface="Courier New" pitchFamily="34" charset="-122"/>
                <a:cs typeface="Courier New" pitchFamily="34" charset="-120"/>
              </a:rPr>
              <a:t>GOAL</a:t>
            </a:r>
            <a:endParaRPr lang="en-US" sz="1200" dirty="0"/>
          </a:p>
        </p:txBody>
      </p:sp>
      <p:sp>
        <p:nvSpPr>
          <p:cNvPr id="5" name="Text 3"/>
          <p:cNvSpPr txBox="1"/>
          <p:nvPr/>
        </p:nvSpPr>
        <p:spPr>
          <a:xfrm>
            <a:off x="786384" y="2258568"/>
            <a:ext cx="1307592" cy="1033272"/>
          </a:xfrm>
          <a:prstGeom prst="rect">
            <a:avLst/>
          </a:prstGeom>
          <a:noFill/>
          <a:ln/>
        </p:spPr>
        <p:txBody>
          <a:bodyPr wrap="square" lIns="0" tIns="0" rIns="0" bIns="0" rtlCol="0" anchor="t"/>
          <a:lstStyle/>
          <a:p>
            <a:pPr indent="0" marL="0">
              <a:buNone/>
            </a:pPr>
            <a:r>
              <a:rPr lang="en-US" sz="1150" dirty="0">
                <a:solidFill>
                  <a:srgbClr val="D6D9DE"/>
                </a:solidFill>
                <a:latin typeface="Calibri" pitchFamily="34" charset="0"/>
                <a:ea typeface="Calibri" pitchFamily="34" charset="-122"/>
                <a:cs typeface="Calibri" pitchFamily="34" charset="-120"/>
              </a:rPr>
              <a:t>"Find 15 physio clinics in Pune for an AI receptionist"</a:t>
            </a:r>
            <a:endParaRPr lang="en-US" sz="1150" dirty="0"/>
          </a:p>
        </p:txBody>
      </p:sp>
      <p:sp>
        <p:nvSpPr>
          <p:cNvPr id="6" name="Shape 4"/>
          <p:cNvSpPr/>
          <p:nvPr/>
        </p:nvSpPr>
        <p:spPr>
          <a:xfrm>
            <a:off x="2267712" y="2583180"/>
            <a:ext cx="206654" cy="0"/>
          </a:xfrm>
          <a:prstGeom prst="line">
            <a:avLst/>
          </a:prstGeom>
          <a:noFill/>
          <a:ln w="19050">
            <a:solidFill>
              <a:srgbClr val="14171C"/>
            </a:solidFill>
            <a:prstDash val="solid"/>
            <a:tailEnd type="triangle"/>
          </a:ln>
        </p:spPr>
      </p:sp>
      <p:sp>
        <p:nvSpPr>
          <p:cNvPr id="7" name="Shape 5"/>
          <p:cNvSpPr/>
          <p:nvPr/>
        </p:nvSpPr>
        <p:spPr>
          <a:xfrm>
            <a:off x="2501798" y="1783080"/>
            <a:ext cx="1600200" cy="1600200"/>
          </a:xfrm>
          <a:prstGeom prst="roundRect">
            <a:avLst>
              <a:gd name="adj" fmla="val 8000"/>
            </a:avLst>
          </a:prstGeom>
          <a:solidFill>
            <a:srgbClr val="F4F6F0"/>
          </a:solidFill>
          <a:ln w="9525">
            <a:solidFill>
              <a:srgbClr val="E3E6DE"/>
            </a:solidFill>
            <a:prstDash val="solid"/>
          </a:ln>
        </p:spPr>
      </p:sp>
      <p:sp>
        <p:nvSpPr>
          <p:cNvPr id="8" name="Text 6"/>
          <p:cNvSpPr txBox="1"/>
          <p:nvPr/>
        </p:nvSpPr>
        <p:spPr>
          <a:xfrm>
            <a:off x="2648102" y="1929384"/>
            <a:ext cx="1307592" cy="274320"/>
          </a:xfrm>
          <a:prstGeom prst="rect">
            <a:avLst/>
          </a:prstGeom>
          <a:noFill/>
          <a:ln/>
        </p:spPr>
        <p:txBody>
          <a:bodyPr wrap="square" lIns="0" tIns="0" rIns="0" bIns="0" rtlCol="0" anchor="t"/>
          <a:lstStyle/>
          <a:p>
            <a:pPr indent="0" marL="0">
              <a:buNone/>
            </a:pPr>
            <a:r>
              <a:rPr lang="en-US" sz="1200" b="1" dirty="0">
                <a:solidFill>
                  <a:srgbClr val="14171C"/>
                </a:solidFill>
                <a:latin typeface="Courier New" pitchFamily="34" charset="0"/>
                <a:ea typeface="Courier New" pitchFamily="34" charset="-122"/>
                <a:cs typeface="Courier New" pitchFamily="34" charset="-120"/>
              </a:rPr>
              <a:t>PLAN</a:t>
            </a:r>
            <a:endParaRPr lang="en-US" sz="1200" dirty="0"/>
          </a:p>
        </p:txBody>
      </p:sp>
      <p:sp>
        <p:nvSpPr>
          <p:cNvPr id="9" name="Text 7"/>
          <p:cNvSpPr txBox="1"/>
          <p:nvPr/>
        </p:nvSpPr>
        <p:spPr>
          <a:xfrm>
            <a:off x="2648102" y="2258568"/>
            <a:ext cx="1307592" cy="1033272"/>
          </a:xfrm>
          <a:prstGeom prst="rect">
            <a:avLst/>
          </a:prstGeom>
          <a:noFill/>
          <a:ln/>
        </p:spPr>
        <p:txBody>
          <a:bodyPr wrap="square" lIns="0" tIns="0" rIns="0" bIns="0" rtlCol="0" anchor="t"/>
          <a:lstStyle/>
          <a:p>
            <a:pPr indent="0" marL="0">
              <a:buNone/>
            </a:pPr>
            <a:r>
              <a:rPr lang="en-US" sz="1150" dirty="0">
                <a:solidFill>
                  <a:srgbClr val="14171C"/>
                </a:solidFill>
                <a:latin typeface="Calibri" pitchFamily="34" charset="0"/>
                <a:ea typeface="Calibri" pitchFamily="34" charset="-122"/>
                <a:cs typeface="Calibri" pitchFamily="34" charset="-120"/>
              </a:rPr>
              <a:t>LLM turns the goal into place, niches, target count and steps</a:t>
            </a:r>
            <a:endParaRPr lang="en-US" sz="1150" dirty="0"/>
          </a:p>
        </p:txBody>
      </p:sp>
      <p:sp>
        <p:nvSpPr>
          <p:cNvPr id="10" name="Shape 8"/>
          <p:cNvSpPr/>
          <p:nvPr/>
        </p:nvSpPr>
        <p:spPr>
          <a:xfrm>
            <a:off x="4129430" y="2583180"/>
            <a:ext cx="206654" cy="0"/>
          </a:xfrm>
          <a:prstGeom prst="line">
            <a:avLst/>
          </a:prstGeom>
          <a:noFill/>
          <a:ln w="19050">
            <a:solidFill>
              <a:srgbClr val="14171C"/>
            </a:solidFill>
            <a:prstDash val="solid"/>
            <a:tailEnd type="triangle"/>
          </a:ln>
        </p:spPr>
      </p:sp>
      <p:sp>
        <p:nvSpPr>
          <p:cNvPr id="11" name="Shape 9"/>
          <p:cNvSpPr/>
          <p:nvPr/>
        </p:nvSpPr>
        <p:spPr>
          <a:xfrm>
            <a:off x="4363517" y="1783080"/>
            <a:ext cx="1600200" cy="1600200"/>
          </a:xfrm>
          <a:prstGeom prst="roundRect">
            <a:avLst>
              <a:gd name="adj" fmla="val 8000"/>
            </a:avLst>
          </a:prstGeom>
          <a:solidFill>
            <a:srgbClr val="D4FF3A"/>
          </a:solidFill>
          <a:ln w="9525">
            <a:solidFill>
              <a:srgbClr val="D4FF3A"/>
            </a:solidFill>
            <a:prstDash val="solid"/>
          </a:ln>
        </p:spPr>
      </p:sp>
      <p:sp>
        <p:nvSpPr>
          <p:cNvPr id="12" name="Text 10"/>
          <p:cNvSpPr txBox="1"/>
          <p:nvPr/>
        </p:nvSpPr>
        <p:spPr>
          <a:xfrm>
            <a:off x="4509821" y="1929384"/>
            <a:ext cx="1307592" cy="274320"/>
          </a:xfrm>
          <a:prstGeom prst="rect">
            <a:avLst/>
          </a:prstGeom>
          <a:noFill/>
          <a:ln/>
        </p:spPr>
        <p:txBody>
          <a:bodyPr wrap="square" lIns="0" tIns="0" rIns="0" bIns="0" rtlCol="0" anchor="t"/>
          <a:lstStyle/>
          <a:p>
            <a:pPr indent="0" marL="0">
              <a:buNone/>
            </a:pPr>
            <a:r>
              <a:rPr lang="en-US" sz="1200" b="1" dirty="0">
                <a:solidFill>
                  <a:srgbClr val="14171C"/>
                </a:solidFill>
                <a:latin typeface="Courier New" pitchFamily="34" charset="0"/>
                <a:ea typeface="Courier New" pitchFamily="34" charset="-122"/>
                <a:cs typeface="Courier New" pitchFamily="34" charset="-120"/>
              </a:rPr>
              <a:t>ACT</a:t>
            </a:r>
            <a:endParaRPr lang="en-US" sz="1200" dirty="0"/>
          </a:p>
        </p:txBody>
      </p:sp>
      <p:sp>
        <p:nvSpPr>
          <p:cNvPr id="13" name="Text 11"/>
          <p:cNvSpPr txBox="1"/>
          <p:nvPr/>
        </p:nvSpPr>
        <p:spPr>
          <a:xfrm>
            <a:off x="4509821" y="2258568"/>
            <a:ext cx="1307592" cy="1033272"/>
          </a:xfrm>
          <a:prstGeom prst="rect">
            <a:avLst/>
          </a:prstGeom>
          <a:noFill/>
          <a:ln/>
        </p:spPr>
        <p:txBody>
          <a:bodyPr wrap="square" lIns="0" tIns="0" rIns="0" bIns="0" rtlCol="0" anchor="t"/>
          <a:lstStyle/>
          <a:p>
            <a:pPr indent="0" marL="0">
              <a:buNone/>
            </a:pPr>
            <a:r>
              <a:rPr lang="en-US" sz="1150" dirty="0">
                <a:solidFill>
                  <a:srgbClr val="14171C"/>
                </a:solidFill>
                <a:latin typeface="Calibri" pitchFamily="34" charset="0"/>
                <a:ea typeface="Calibri" pitchFamily="34" charset="-122"/>
                <a:cs typeface="Calibri" pitchFamily="34" charset="-120"/>
              </a:rPr>
              <a:t>Calls one tool: search the map, fetch websites, score, write hooks</a:t>
            </a:r>
            <a:endParaRPr lang="en-US" sz="1150" dirty="0"/>
          </a:p>
        </p:txBody>
      </p:sp>
      <p:sp>
        <p:nvSpPr>
          <p:cNvPr id="14" name="Shape 12"/>
          <p:cNvSpPr/>
          <p:nvPr/>
        </p:nvSpPr>
        <p:spPr>
          <a:xfrm>
            <a:off x="5991149" y="2583180"/>
            <a:ext cx="206654" cy="0"/>
          </a:xfrm>
          <a:prstGeom prst="line">
            <a:avLst/>
          </a:prstGeom>
          <a:noFill/>
          <a:ln w="19050">
            <a:solidFill>
              <a:srgbClr val="14171C"/>
            </a:solidFill>
            <a:prstDash val="solid"/>
            <a:tailEnd type="triangle"/>
          </a:ln>
        </p:spPr>
      </p:sp>
      <p:sp>
        <p:nvSpPr>
          <p:cNvPr id="15" name="Shape 13"/>
          <p:cNvSpPr/>
          <p:nvPr/>
        </p:nvSpPr>
        <p:spPr>
          <a:xfrm>
            <a:off x="6225235" y="1783080"/>
            <a:ext cx="1600200" cy="1600200"/>
          </a:xfrm>
          <a:prstGeom prst="roundRect">
            <a:avLst>
              <a:gd name="adj" fmla="val 8000"/>
            </a:avLst>
          </a:prstGeom>
          <a:solidFill>
            <a:srgbClr val="F4F6F0"/>
          </a:solidFill>
          <a:ln w="9525">
            <a:solidFill>
              <a:srgbClr val="E3E6DE"/>
            </a:solidFill>
            <a:prstDash val="solid"/>
          </a:ln>
        </p:spPr>
      </p:sp>
      <p:sp>
        <p:nvSpPr>
          <p:cNvPr id="16" name="Text 14"/>
          <p:cNvSpPr txBox="1"/>
          <p:nvPr/>
        </p:nvSpPr>
        <p:spPr>
          <a:xfrm>
            <a:off x="6371539" y="1929384"/>
            <a:ext cx="1307592" cy="274320"/>
          </a:xfrm>
          <a:prstGeom prst="rect">
            <a:avLst/>
          </a:prstGeom>
          <a:noFill/>
          <a:ln/>
        </p:spPr>
        <p:txBody>
          <a:bodyPr wrap="square" lIns="0" tIns="0" rIns="0" bIns="0" rtlCol="0" anchor="t"/>
          <a:lstStyle/>
          <a:p>
            <a:pPr indent="0" marL="0">
              <a:buNone/>
            </a:pPr>
            <a:r>
              <a:rPr lang="en-US" sz="1200" b="1" dirty="0">
                <a:solidFill>
                  <a:srgbClr val="14171C"/>
                </a:solidFill>
                <a:latin typeface="Courier New" pitchFamily="34" charset="0"/>
                <a:ea typeface="Courier New" pitchFamily="34" charset="-122"/>
                <a:cs typeface="Courier New" pitchFamily="34" charset="-120"/>
              </a:rPr>
              <a:t>OBSERVE</a:t>
            </a:r>
            <a:endParaRPr lang="en-US" sz="1200" dirty="0"/>
          </a:p>
        </p:txBody>
      </p:sp>
      <p:sp>
        <p:nvSpPr>
          <p:cNvPr id="17" name="Text 15"/>
          <p:cNvSpPr txBox="1"/>
          <p:nvPr/>
        </p:nvSpPr>
        <p:spPr>
          <a:xfrm>
            <a:off x="6371539" y="2258568"/>
            <a:ext cx="1307592" cy="1033272"/>
          </a:xfrm>
          <a:prstGeom prst="rect">
            <a:avLst/>
          </a:prstGeom>
          <a:noFill/>
          <a:ln/>
        </p:spPr>
        <p:txBody>
          <a:bodyPr wrap="square" lIns="0" tIns="0" rIns="0" bIns="0" rtlCol="0" anchor="t"/>
          <a:lstStyle/>
          <a:p>
            <a:pPr indent="0" marL="0">
              <a:buNone/>
            </a:pPr>
            <a:r>
              <a:rPr lang="en-US" sz="1150" dirty="0">
                <a:solidFill>
                  <a:srgbClr val="14171C"/>
                </a:solidFill>
                <a:latin typeface="Calibri" pitchFamily="34" charset="0"/>
                <a:ea typeface="Calibri" pitchFamily="34" charset="-122"/>
                <a:cs typeface="Calibri" pitchFamily="34" charset="-120"/>
              </a:rPr>
              <a:t>The tool result comes back as text. State is saved after every step</a:t>
            </a:r>
            <a:endParaRPr lang="en-US" sz="1150" dirty="0"/>
          </a:p>
        </p:txBody>
      </p:sp>
      <p:sp>
        <p:nvSpPr>
          <p:cNvPr id="18" name="Shape 16"/>
          <p:cNvSpPr/>
          <p:nvPr/>
        </p:nvSpPr>
        <p:spPr>
          <a:xfrm>
            <a:off x="7852867" y="2583180"/>
            <a:ext cx="206654" cy="0"/>
          </a:xfrm>
          <a:prstGeom prst="line">
            <a:avLst/>
          </a:prstGeom>
          <a:noFill/>
          <a:ln w="19050">
            <a:solidFill>
              <a:srgbClr val="14171C"/>
            </a:solidFill>
            <a:prstDash val="solid"/>
            <a:tailEnd type="triangle"/>
          </a:ln>
        </p:spPr>
      </p:sp>
      <p:sp>
        <p:nvSpPr>
          <p:cNvPr id="19" name="Shape 17"/>
          <p:cNvSpPr/>
          <p:nvPr/>
        </p:nvSpPr>
        <p:spPr>
          <a:xfrm>
            <a:off x="8086954" y="1783080"/>
            <a:ext cx="1600200" cy="1600200"/>
          </a:xfrm>
          <a:prstGeom prst="roundRect">
            <a:avLst>
              <a:gd name="adj" fmla="val 8000"/>
            </a:avLst>
          </a:prstGeom>
          <a:solidFill>
            <a:srgbClr val="F4F6F0"/>
          </a:solidFill>
          <a:ln w="9525">
            <a:solidFill>
              <a:srgbClr val="E3E6DE"/>
            </a:solidFill>
            <a:prstDash val="solid"/>
          </a:ln>
        </p:spPr>
      </p:sp>
      <p:sp>
        <p:nvSpPr>
          <p:cNvPr id="20" name="Text 18"/>
          <p:cNvSpPr txBox="1"/>
          <p:nvPr/>
        </p:nvSpPr>
        <p:spPr>
          <a:xfrm>
            <a:off x="8233258" y="1929384"/>
            <a:ext cx="1307592" cy="274320"/>
          </a:xfrm>
          <a:prstGeom prst="rect">
            <a:avLst/>
          </a:prstGeom>
          <a:noFill/>
          <a:ln/>
        </p:spPr>
        <p:txBody>
          <a:bodyPr wrap="square" lIns="0" tIns="0" rIns="0" bIns="0" rtlCol="0" anchor="t"/>
          <a:lstStyle/>
          <a:p>
            <a:pPr indent="0" marL="0">
              <a:buNone/>
            </a:pPr>
            <a:r>
              <a:rPr lang="en-US" sz="1200" b="1" dirty="0">
                <a:solidFill>
                  <a:srgbClr val="14171C"/>
                </a:solidFill>
                <a:latin typeface="Courier New" pitchFamily="34" charset="0"/>
                <a:ea typeface="Courier New" pitchFamily="34" charset="-122"/>
                <a:cs typeface="Courier New" pitchFamily="34" charset="-120"/>
              </a:rPr>
              <a:t>DECIDE</a:t>
            </a:r>
            <a:endParaRPr lang="en-US" sz="1200" dirty="0"/>
          </a:p>
        </p:txBody>
      </p:sp>
      <p:sp>
        <p:nvSpPr>
          <p:cNvPr id="21" name="Text 19"/>
          <p:cNvSpPr txBox="1"/>
          <p:nvPr/>
        </p:nvSpPr>
        <p:spPr>
          <a:xfrm>
            <a:off x="8233258" y="2258568"/>
            <a:ext cx="1307592" cy="1033272"/>
          </a:xfrm>
          <a:prstGeom prst="rect">
            <a:avLst/>
          </a:prstGeom>
          <a:noFill/>
          <a:ln/>
        </p:spPr>
        <p:txBody>
          <a:bodyPr wrap="square" lIns="0" tIns="0" rIns="0" bIns="0" rtlCol="0" anchor="t"/>
          <a:lstStyle/>
          <a:p>
            <a:pPr indent="0" marL="0">
              <a:buNone/>
            </a:pPr>
            <a:r>
              <a:rPr lang="en-US" sz="1150" dirty="0">
                <a:solidFill>
                  <a:srgbClr val="14171C"/>
                </a:solidFill>
                <a:latin typeface="Calibri" pitchFamily="34" charset="0"/>
                <a:ea typeface="Calibri" pitchFamily="34" charset="-122"/>
                <a:cs typeface="Calibri" pitchFamily="34" charset="-120"/>
              </a:rPr>
              <a:t>Enough leads? Did it fail? Re-plan, widen the area, or move on</a:t>
            </a:r>
            <a:endParaRPr lang="en-US" sz="1150" dirty="0"/>
          </a:p>
        </p:txBody>
      </p:sp>
      <p:sp>
        <p:nvSpPr>
          <p:cNvPr id="22" name="Shape 20"/>
          <p:cNvSpPr/>
          <p:nvPr/>
        </p:nvSpPr>
        <p:spPr>
          <a:xfrm>
            <a:off x="9714586" y="2583180"/>
            <a:ext cx="206654" cy="0"/>
          </a:xfrm>
          <a:prstGeom prst="line">
            <a:avLst/>
          </a:prstGeom>
          <a:noFill/>
          <a:ln w="19050">
            <a:solidFill>
              <a:srgbClr val="14171C"/>
            </a:solidFill>
            <a:prstDash val="solid"/>
            <a:tailEnd type="triangle"/>
          </a:ln>
        </p:spPr>
      </p:sp>
      <p:sp>
        <p:nvSpPr>
          <p:cNvPr id="23" name="Shape 21"/>
          <p:cNvSpPr/>
          <p:nvPr/>
        </p:nvSpPr>
        <p:spPr>
          <a:xfrm>
            <a:off x="9948672" y="1783080"/>
            <a:ext cx="1600200" cy="1600200"/>
          </a:xfrm>
          <a:prstGeom prst="roundRect">
            <a:avLst>
              <a:gd name="adj" fmla="val 8000"/>
            </a:avLst>
          </a:prstGeom>
          <a:solidFill>
            <a:srgbClr val="14171C"/>
          </a:solidFill>
          <a:ln w="9525">
            <a:solidFill>
              <a:srgbClr val="14171C"/>
            </a:solidFill>
            <a:prstDash val="solid"/>
          </a:ln>
        </p:spPr>
      </p:sp>
      <p:sp>
        <p:nvSpPr>
          <p:cNvPr id="24" name="Text 22"/>
          <p:cNvSpPr txBox="1"/>
          <p:nvPr/>
        </p:nvSpPr>
        <p:spPr>
          <a:xfrm>
            <a:off x="10094976" y="1929384"/>
            <a:ext cx="1307592" cy="274320"/>
          </a:xfrm>
          <a:prstGeom prst="rect">
            <a:avLst/>
          </a:prstGeom>
          <a:noFill/>
          <a:ln/>
        </p:spPr>
        <p:txBody>
          <a:bodyPr wrap="square" lIns="0" tIns="0" rIns="0" bIns="0" rtlCol="0" anchor="t"/>
          <a:lstStyle/>
          <a:p>
            <a:pPr indent="0" marL="0">
              <a:buNone/>
            </a:pPr>
            <a:r>
              <a:rPr lang="en-US" sz="1200" b="1" dirty="0">
                <a:solidFill>
                  <a:srgbClr val="D4FF3A"/>
                </a:solidFill>
                <a:latin typeface="Courier New" pitchFamily="34" charset="0"/>
                <a:ea typeface="Courier New" pitchFamily="34" charset="-122"/>
                <a:cs typeface="Courier New" pitchFamily="34" charset="-120"/>
              </a:rPr>
              <a:t>RESPOND</a:t>
            </a:r>
            <a:endParaRPr lang="en-US" sz="1200" dirty="0"/>
          </a:p>
        </p:txBody>
      </p:sp>
      <p:sp>
        <p:nvSpPr>
          <p:cNvPr id="25" name="Text 23"/>
          <p:cNvSpPr txBox="1"/>
          <p:nvPr/>
        </p:nvSpPr>
        <p:spPr>
          <a:xfrm>
            <a:off x="10094976" y="2258568"/>
            <a:ext cx="1307592" cy="1033272"/>
          </a:xfrm>
          <a:prstGeom prst="rect">
            <a:avLst/>
          </a:prstGeom>
          <a:noFill/>
          <a:ln/>
        </p:spPr>
        <p:txBody>
          <a:bodyPr wrap="square" lIns="0" tIns="0" rIns="0" bIns="0" rtlCol="0" anchor="t"/>
          <a:lstStyle/>
          <a:p>
            <a:pPr indent="0" marL="0">
              <a:buNone/>
            </a:pPr>
            <a:r>
              <a:rPr lang="en-US" sz="1150" dirty="0">
                <a:solidFill>
                  <a:srgbClr val="D6D9DE"/>
                </a:solidFill>
                <a:latin typeface="Calibri" pitchFamily="34" charset="0"/>
                <a:ea typeface="Calibri" pitchFamily="34" charset="-122"/>
                <a:cs typeface="Calibri" pitchFamily="34" charset="-120"/>
              </a:rPr>
              <a:t>Ranked leads with reasons, pitch hooks, a report and live receptionists</a:t>
            </a:r>
            <a:endParaRPr lang="en-US" sz="1150" dirty="0"/>
          </a:p>
        </p:txBody>
      </p:sp>
      <p:sp>
        <p:nvSpPr>
          <p:cNvPr id="26" name="Shape 24"/>
          <p:cNvSpPr/>
          <p:nvPr/>
        </p:nvSpPr>
        <p:spPr>
          <a:xfrm>
            <a:off x="8887054" y="3383280"/>
            <a:ext cx="0" cy="384048"/>
          </a:xfrm>
          <a:prstGeom prst="line">
            <a:avLst/>
          </a:prstGeom>
          <a:noFill/>
          <a:ln w="19050">
            <a:solidFill>
              <a:srgbClr val="3F5A00"/>
            </a:solidFill>
            <a:prstDash val="solid"/>
          </a:ln>
        </p:spPr>
      </p:sp>
      <p:sp>
        <p:nvSpPr>
          <p:cNvPr id="27" name="Shape 25"/>
          <p:cNvSpPr/>
          <p:nvPr/>
        </p:nvSpPr>
        <p:spPr>
          <a:xfrm>
            <a:off x="5163617" y="3767328"/>
            <a:ext cx="3723437" cy="0"/>
          </a:xfrm>
          <a:prstGeom prst="line">
            <a:avLst/>
          </a:prstGeom>
          <a:noFill/>
          <a:ln w="19050">
            <a:solidFill>
              <a:srgbClr val="3F5A00"/>
            </a:solidFill>
            <a:prstDash val="solid"/>
          </a:ln>
        </p:spPr>
      </p:sp>
      <p:sp>
        <p:nvSpPr>
          <p:cNvPr id="28" name="Shape 26"/>
          <p:cNvSpPr/>
          <p:nvPr/>
        </p:nvSpPr>
        <p:spPr>
          <a:xfrm flipV="1">
            <a:off x="5163617" y="3401568"/>
            <a:ext cx="0" cy="365760"/>
          </a:xfrm>
          <a:prstGeom prst="line">
            <a:avLst/>
          </a:prstGeom>
          <a:noFill/>
          <a:ln w="19050">
            <a:solidFill>
              <a:srgbClr val="3F5A00"/>
            </a:solidFill>
            <a:prstDash val="solid"/>
            <a:tailEnd type="triangle"/>
          </a:ln>
        </p:spPr>
      </p:sp>
      <p:sp>
        <p:nvSpPr>
          <p:cNvPr id="29" name="Text 27"/>
          <p:cNvSpPr txBox="1"/>
          <p:nvPr/>
        </p:nvSpPr>
        <p:spPr>
          <a:xfrm>
            <a:off x="5163617" y="3822192"/>
            <a:ext cx="3723437" cy="274320"/>
          </a:xfrm>
          <a:prstGeom prst="rect">
            <a:avLst/>
          </a:prstGeom>
          <a:noFill/>
          <a:ln/>
        </p:spPr>
        <p:txBody>
          <a:bodyPr wrap="square" lIns="0" tIns="0" rIns="0" bIns="0" rtlCol="0" anchor="t"/>
          <a:lstStyle/>
          <a:p>
            <a:pPr algn="ctr" indent="0" marL="0">
              <a:buNone/>
            </a:pPr>
            <a:r>
              <a:rPr lang="en-US" sz="1100" i="1" dirty="0">
                <a:solidFill>
                  <a:srgbClr val="3F5A00"/>
                </a:solidFill>
                <a:latin typeface="Calibri" pitchFamily="34" charset="0"/>
                <a:ea typeface="Calibri" pitchFamily="34" charset="-122"/>
                <a:cs typeface="Calibri" pitchFamily="34" charset="-120"/>
              </a:rPr>
              <a:t>loops until the goal is met or the step budget runs out</a:t>
            </a:r>
            <a:endParaRPr lang="en-US" sz="1100" dirty="0"/>
          </a:p>
        </p:txBody>
      </p:sp>
      <p:sp>
        <p:nvSpPr>
          <p:cNvPr id="30" name="Text 28"/>
          <p:cNvSpPr txBox="1"/>
          <p:nvPr/>
        </p:nvSpPr>
        <p:spPr>
          <a:xfrm>
            <a:off x="640080" y="4343400"/>
            <a:ext cx="4572000" cy="274320"/>
          </a:xfrm>
          <a:prstGeom prst="rect">
            <a:avLst/>
          </a:prstGeom>
          <a:noFill/>
          <a:ln/>
        </p:spPr>
        <p:txBody>
          <a:bodyPr wrap="square" lIns="0" tIns="0" rIns="0" bIns="0" rtlCol="0" anchor="t"/>
          <a:lstStyle/>
          <a:p>
            <a:pPr indent="0" marL="0">
              <a:buNone/>
            </a:pPr>
            <a:r>
              <a:rPr lang="en-US" sz="1100" b="1" spc="200" kern="0" dirty="0">
                <a:solidFill>
                  <a:srgbClr val="5B6270"/>
                </a:solidFill>
                <a:latin typeface="Arial" pitchFamily="34" charset="0"/>
                <a:ea typeface="Arial" pitchFamily="34" charset="-122"/>
                <a:cs typeface="Arial" pitchFamily="34" charset="-120"/>
              </a:rPr>
              <a:t>TOOLS THE AGENT CAN CALL</a:t>
            </a:r>
            <a:endParaRPr lang="en-US" sz="1100" dirty="0"/>
          </a:p>
        </p:txBody>
      </p:sp>
      <p:sp>
        <p:nvSpPr>
          <p:cNvPr id="31" name="Shape 29"/>
          <p:cNvSpPr/>
          <p:nvPr/>
        </p:nvSpPr>
        <p:spPr>
          <a:xfrm>
            <a:off x="640080" y="4709160"/>
            <a:ext cx="982066" cy="329184"/>
          </a:xfrm>
          <a:prstGeom prst="roundRect">
            <a:avLst>
              <a:gd name="adj" fmla="val 50000"/>
            </a:avLst>
          </a:prstGeom>
          <a:solidFill>
            <a:srgbClr val="F4F6F0"/>
          </a:solidFill>
          <a:ln w="9525">
            <a:solidFill>
              <a:srgbClr val="E3E6DE"/>
            </a:solidFill>
            <a:prstDash val="solid"/>
          </a:ln>
        </p:spPr>
      </p:sp>
      <p:sp>
        <p:nvSpPr>
          <p:cNvPr id="32" name="Text 30"/>
          <p:cNvSpPr txBox="1"/>
          <p:nvPr/>
        </p:nvSpPr>
        <p:spPr>
          <a:xfrm>
            <a:off x="640080" y="4709160"/>
            <a:ext cx="982066" cy="329184"/>
          </a:xfrm>
          <a:prstGeom prst="rect">
            <a:avLst/>
          </a:prstGeom>
          <a:noFill/>
          <a:ln/>
        </p:spPr>
        <p:txBody>
          <a:bodyPr wrap="square" lIns="0" tIns="0" rIns="0" bIns="0" rtlCol="0" anchor="ctr"/>
          <a:lstStyle/>
          <a:p>
            <a:pPr algn="ctr" indent="0" marL="0">
              <a:buNone/>
            </a:pPr>
            <a:r>
              <a:rPr lang="en-US" sz="1200" dirty="0">
                <a:solidFill>
                  <a:srgbClr val="14171C"/>
                </a:solidFill>
                <a:latin typeface="Courier New" pitchFamily="34" charset="0"/>
                <a:ea typeface="Courier New" pitchFamily="34" charset="-122"/>
                <a:cs typeface="Courier New" pitchFamily="34" charset="-120"/>
              </a:rPr>
              <a:t>geocode</a:t>
            </a:r>
            <a:endParaRPr lang="en-US" sz="1200" dirty="0"/>
          </a:p>
        </p:txBody>
      </p:sp>
      <p:sp>
        <p:nvSpPr>
          <p:cNvPr id="33" name="Shape 31"/>
          <p:cNvSpPr/>
          <p:nvPr/>
        </p:nvSpPr>
        <p:spPr>
          <a:xfrm>
            <a:off x="1750162" y="4709160"/>
            <a:ext cx="1914754" cy="329184"/>
          </a:xfrm>
          <a:prstGeom prst="roundRect">
            <a:avLst>
              <a:gd name="adj" fmla="val 50000"/>
            </a:avLst>
          </a:prstGeom>
          <a:solidFill>
            <a:srgbClr val="F4F6F0"/>
          </a:solidFill>
          <a:ln w="9525">
            <a:solidFill>
              <a:srgbClr val="E3E6DE"/>
            </a:solidFill>
            <a:prstDash val="solid"/>
          </a:ln>
        </p:spPr>
      </p:sp>
      <p:sp>
        <p:nvSpPr>
          <p:cNvPr id="34" name="Text 32"/>
          <p:cNvSpPr txBox="1"/>
          <p:nvPr/>
        </p:nvSpPr>
        <p:spPr>
          <a:xfrm>
            <a:off x="1750162" y="4709160"/>
            <a:ext cx="1914754" cy="329184"/>
          </a:xfrm>
          <a:prstGeom prst="rect">
            <a:avLst/>
          </a:prstGeom>
          <a:noFill/>
          <a:ln/>
        </p:spPr>
        <p:txBody>
          <a:bodyPr wrap="square" lIns="0" tIns="0" rIns="0" bIns="0" rtlCol="0" anchor="ctr"/>
          <a:lstStyle/>
          <a:p>
            <a:pPr algn="ctr" indent="0" marL="0">
              <a:buNone/>
            </a:pPr>
            <a:r>
              <a:rPr lang="en-US" sz="1200" dirty="0">
                <a:solidFill>
                  <a:srgbClr val="14171C"/>
                </a:solidFill>
                <a:latin typeface="Courier New" pitchFamily="34" charset="0"/>
                <a:ea typeface="Courier New" pitchFamily="34" charset="-122"/>
                <a:cs typeface="Courier New" pitchFamily="34" charset="-120"/>
              </a:rPr>
              <a:t>search_businesses</a:t>
            </a:r>
            <a:endParaRPr lang="en-US" sz="1200" dirty="0"/>
          </a:p>
        </p:txBody>
      </p:sp>
      <p:sp>
        <p:nvSpPr>
          <p:cNvPr id="35" name="Shape 33"/>
          <p:cNvSpPr/>
          <p:nvPr/>
        </p:nvSpPr>
        <p:spPr>
          <a:xfrm>
            <a:off x="3792931" y="4709160"/>
            <a:ext cx="1261872" cy="329184"/>
          </a:xfrm>
          <a:prstGeom prst="roundRect">
            <a:avLst>
              <a:gd name="adj" fmla="val 50000"/>
            </a:avLst>
          </a:prstGeom>
          <a:solidFill>
            <a:srgbClr val="F4F6F0"/>
          </a:solidFill>
          <a:ln w="9525">
            <a:solidFill>
              <a:srgbClr val="E3E6DE"/>
            </a:solidFill>
            <a:prstDash val="solid"/>
          </a:ln>
        </p:spPr>
      </p:sp>
      <p:sp>
        <p:nvSpPr>
          <p:cNvPr id="36" name="Text 34"/>
          <p:cNvSpPr txBox="1"/>
          <p:nvPr/>
        </p:nvSpPr>
        <p:spPr>
          <a:xfrm>
            <a:off x="3792931" y="4709160"/>
            <a:ext cx="1261872" cy="329184"/>
          </a:xfrm>
          <a:prstGeom prst="rect">
            <a:avLst/>
          </a:prstGeom>
          <a:noFill/>
          <a:ln/>
        </p:spPr>
        <p:txBody>
          <a:bodyPr wrap="square" lIns="0" tIns="0" rIns="0" bIns="0" rtlCol="0" anchor="ctr"/>
          <a:lstStyle/>
          <a:p>
            <a:pPr algn="ctr" indent="0" marL="0">
              <a:buNone/>
            </a:pPr>
            <a:r>
              <a:rPr lang="en-US" sz="1200" dirty="0">
                <a:solidFill>
                  <a:srgbClr val="14171C"/>
                </a:solidFill>
                <a:latin typeface="Courier New" pitchFamily="34" charset="0"/>
                <a:ea typeface="Courier New" pitchFamily="34" charset="-122"/>
                <a:cs typeface="Courier New" pitchFamily="34" charset="-120"/>
              </a:rPr>
              <a:t>widen_area</a:t>
            </a:r>
            <a:endParaRPr lang="en-US" sz="1200" dirty="0"/>
          </a:p>
        </p:txBody>
      </p:sp>
      <p:sp>
        <p:nvSpPr>
          <p:cNvPr id="37" name="Shape 35"/>
          <p:cNvSpPr/>
          <p:nvPr/>
        </p:nvSpPr>
        <p:spPr>
          <a:xfrm>
            <a:off x="5182819" y="4709160"/>
            <a:ext cx="888797" cy="329184"/>
          </a:xfrm>
          <a:prstGeom prst="roundRect">
            <a:avLst>
              <a:gd name="adj" fmla="val 50000"/>
            </a:avLst>
          </a:prstGeom>
          <a:solidFill>
            <a:srgbClr val="F4F6F0"/>
          </a:solidFill>
          <a:ln w="9525">
            <a:solidFill>
              <a:srgbClr val="E3E6DE"/>
            </a:solidFill>
            <a:prstDash val="solid"/>
          </a:ln>
        </p:spPr>
      </p:sp>
      <p:sp>
        <p:nvSpPr>
          <p:cNvPr id="38" name="Text 36"/>
          <p:cNvSpPr txBox="1"/>
          <p:nvPr/>
        </p:nvSpPr>
        <p:spPr>
          <a:xfrm>
            <a:off x="5182819" y="4709160"/>
            <a:ext cx="888797" cy="329184"/>
          </a:xfrm>
          <a:prstGeom prst="rect">
            <a:avLst/>
          </a:prstGeom>
          <a:noFill/>
          <a:ln/>
        </p:spPr>
        <p:txBody>
          <a:bodyPr wrap="square" lIns="0" tIns="0" rIns="0" bIns="0" rtlCol="0" anchor="ctr"/>
          <a:lstStyle/>
          <a:p>
            <a:pPr algn="ctr" indent="0" marL="0">
              <a:buNone/>
            </a:pPr>
            <a:r>
              <a:rPr lang="en-US" sz="1200" dirty="0">
                <a:solidFill>
                  <a:srgbClr val="14171C"/>
                </a:solidFill>
                <a:latin typeface="Courier New" pitchFamily="34" charset="0"/>
                <a:ea typeface="Courier New" pitchFamily="34" charset="-122"/>
                <a:cs typeface="Courier New" pitchFamily="34" charset="-120"/>
              </a:rPr>
              <a:t>enrich</a:t>
            </a:r>
            <a:endParaRPr lang="en-US" sz="1200" dirty="0"/>
          </a:p>
        </p:txBody>
      </p:sp>
      <p:sp>
        <p:nvSpPr>
          <p:cNvPr id="39" name="Shape 37"/>
          <p:cNvSpPr/>
          <p:nvPr/>
        </p:nvSpPr>
        <p:spPr>
          <a:xfrm>
            <a:off x="6199632" y="4709160"/>
            <a:ext cx="795528" cy="329184"/>
          </a:xfrm>
          <a:prstGeom prst="roundRect">
            <a:avLst>
              <a:gd name="adj" fmla="val 50000"/>
            </a:avLst>
          </a:prstGeom>
          <a:solidFill>
            <a:srgbClr val="F4F6F0"/>
          </a:solidFill>
          <a:ln w="9525">
            <a:solidFill>
              <a:srgbClr val="E3E6DE"/>
            </a:solidFill>
            <a:prstDash val="solid"/>
          </a:ln>
        </p:spPr>
      </p:sp>
      <p:sp>
        <p:nvSpPr>
          <p:cNvPr id="40" name="Text 38"/>
          <p:cNvSpPr txBox="1"/>
          <p:nvPr/>
        </p:nvSpPr>
        <p:spPr>
          <a:xfrm>
            <a:off x="6199632" y="4709160"/>
            <a:ext cx="795528" cy="329184"/>
          </a:xfrm>
          <a:prstGeom prst="rect">
            <a:avLst/>
          </a:prstGeom>
          <a:noFill/>
          <a:ln/>
        </p:spPr>
        <p:txBody>
          <a:bodyPr wrap="square" lIns="0" tIns="0" rIns="0" bIns="0" rtlCol="0" anchor="ctr"/>
          <a:lstStyle/>
          <a:p>
            <a:pPr algn="ctr" indent="0" marL="0">
              <a:buNone/>
            </a:pPr>
            <a:r>
              <a:rPr lang="en-US" sz="1200" dirty="0">
                <a:solidFill>
                  <a:srgbClr val="14171C"/>
                </a:solidFill>
                <a:latin typeface="Courier New" pitchFamily="34" charset="0"/>
                <a:ea typeface="Courier New" pitchFamily="34" charset="-122"/>
                <a:cs typeface="Courier New" pitchFamily="34" charset="-120"/>
              </a:rPr>
              <a:t>score</a:t>
            </a:r>
            <a:endParaRPr lang="en-US" sz="1200" dirty="0"/>
          </a:p>
        </p:txBody>
      </p:sp>
      <p:sp>
        <p:nvSpPr>
          <p:cNvPr id="41" name="Shape 39"/>
          <p:cNvSpPr/>
          <p:nvPr/>
        </p:nvSpPr>
        <p:spPr>
          <a:xfrm>
            <a:off x="7123176" y="4709160"/>
            <a:ext cx="1541678" cy="329184"/>
          </a:xfrm>
          <a:prstGeom prst="roundRect">
            <a:avLst>
              <a:gd name="adj" fmla="val 50000"/>
            </a:avLst>
          </a:prstGeom>
          <a:solidFill>
            <a:srgbClr val="F4F6F0"/>
          </a:solidFill>
          <a:ln w="9525">
            <a:solidFill>
              <a:srgbClr val="E3E6DE"/>
            </a:solidFill>
            <a:prstDash val="solid"/>
          </a:ln>
        </p:spPr>
      </p:sp>
      <p:sp>
        <p:nvSpPr>
          <p:cNvPr id="42" name="Text 40"/>
          <p:cNvSpPr txBox="1"/>
          <p:nvPr/>
        </p:nvSpPr>
        <p:spPr>
          <a:xfrm>
            <a:off x="7123176" y="4709160"/>
            <a:ext cx="1541678" cy="329184"/>
          </a:xfrm>
          <a:prstGeom prst="rect">
            <a:avLst/>
          </a:prstGeom>
          <a:noFill/>
          <a:ln/>
        </p:spPr>
        <p:txBody>
          <a:bodyPr wrap="square" lIns="0" tIns="0" rIns="0" bIns="0" rtlCol="0" anchor="ctr"/>
          <a:lstStyle/>
          <a:p>
            <a:pPr algn="ctr" indent="0" marL="0">
              <a:buNone/>
            </a:pPr>
            <a:r>
              <a:rPr lang="en-US" sz="1200" dirty="0">
                <a:solidFill>
                  <a:srgbClr val="14171C"/>
                </a:solidFill>
                <a:latin typeface="Courier New" pitchFamily="34" charset="0"/>
                <a:ea typeface="Courier New" pitchFamily="34" charset="-122"/>
                <a:cs typeface="Courier New" pitchFamily="34" charset="-120"/>
              </a:rPr>
              <a:t>deep_research</a:t>
            </a:r>
            <a:endParaRPr lang="en-US" sz="1200" dirty="0"/>
          </a:p>
        </p:txBody>
      </p:sp>
      <p:sp>
        <p:nvSpPr>
          <p:cNvPr id="43" name="Shape 41"/>
          <p:cNvSpPr/>
          <p:nvPr/>
        </p:nvSpPr>
        <p:spPr>
          <a:xfrm>
            <a:off x="8792870" y="4709160"/>
            <a:ext cx="1355141" cy="329184"/>
          </a:xfrm>
          <a:prstGeom prst="roundRect">
            <a:avLst>
              <a:gd name="adj" fmla="val 50000"/>
            </a:avLst>
          </a:prstGeom>
          <a:solidFill>
            <a:srgbClr val="F4F6F0"/>
          </a:solidFill>
          <a:ln w="9525">
            <a:solidFill>
              <a:srgbClr val="E3E6DE"/>
            </a:solidFill>
            <a:prstDash val="solid"/>
          </a:ln>
        </p:spPr>
      </p:sp>
      <p:sp>
        <p:nvSpPr>
          <p:cNvPr id="44" name="Text 42"/>
          <p:cNvSpPr txBox="1"/>
          <p:nvPr/>
        </p:nvSpPr>
        <p:spPr>
          <a:xfrm>
            <a:off x="8792870" y="4709160"/>
            <a:ext cx="1355141" cy="329184"/>
          </a:xfrm>
          <a:prstGeom prst="rect">
            <a:avLst/>
          </a:prstGeom>
          <a:noFill/>
          <a:ln/>
        </p:spPr>
        <p:txBody>
          <a:bodyPr wrap="square" lIns="0" tIns="0" rIns="0" bIns="0" rtlCol="0" anchor="ctr"/>
          <a:lstStyle/>
          <a:p>
            <a:pPr algn="ctr" indent="0" marL="0">
              <a:buNone/>
            </a:pPr>
            <a:r>
              <a:rPr lang="en-US" sz="1200" dirty="0">
                <a:solidFill>
                  <a:srgbClr val="14171C"/>
                </a:solidFill>
                <a:latin typeface="Courier New" pitchFamily="34" charset="0"/>
                <a:ea typeface="Courier New" pitchFamily="34" charset="-122"/>
                <a:cs typeface="Courier New" pitchFamily="34" charset="-120"/>
              </a:rPr>
              <a:t>write_hooks</a:t>
            </a:r>
            <a:endParaRPr lang="en-US" sz="1200" dirty="0"/>
          </a:p>
        </p:txBody>
      </p:sp>
      <p:sp>
        <p:nvSpPr>
          <p:cNvPr id="45" name="Shape 43"/>
          <p:cNvSpPr/>
          <p:nvPr/>
        </p:nvSpPr>
        <p:spPr>
          <a:xfrm>
            <a:off x="640080" y="5166360"/>
            <a:ext cx="2287829" cy="329184"/>
          </a:xfrm>
          <a:prstGeom prst="roundRect">
            <a:avLst>
              <a:gd name="adj" fmla="val 50000"/>
            </a:avLst>
          </a:prstGeom>
          <a:solidFill>
            <a:srgbClr val="F4F6F0"/>
          </a:solidFill>
          <a:ln w="9525">
            <a:solidFill>
              <a:srgbClr val="E3E6DE"/>
            </a:solidFill>
            <a:prstDash val="solid"/>
          </a:ln>
        </p:spPr>
      </p:sp>
      <p:sp>
        <p:nvSpPr>
          <p:cNvPr id="46" name="Text 44"/>
          <p:cNvSpPr txBox="1"/>
          <p:nvPr/>
        </p:nvSpPr>
        <p:spPr>
          <a:xfrm>
            <a:off x="640080" y="5166360"/>
            <a:ext cx="2287829" cy="329184"/>
          </a:xfrm>
          <a:prstGeom prst="rect">
            <a:avLst/>
          </a:prstGeom>
          <a:noFill/>
          <a:ln/>
        </p:spPr>
        <p:txBody>
          <a:bodyPr wrap="square" lIns="0" tIns="0" rIns="0" bIns="0" rtlCol="0" anchor="ctr"/>
          <a:lstStyle/>
          <a:p>
            <a:pPr algn="ctr" indent="0" marL="0">
              <a:buNone/>
            </a:pPr>
            <a:r>
              <a:rPr lang="en-US" sz="1200" dirty="0">
                <a:solidFill>
                  <a:srgbClr val="14171C"/>
                </a:solidFill>
                <a:latin typeface="Courier New" pitchFamily="34" charset="0"/>
                <a:ea typeface="Courier New" pitchFamily="34" charset="-122"/>
                <a:cs typeface="Courier New" pitchFamily="34" charset="-120"/>
              </a:rPr>
              <a:t>prepare_receptionists</a:t>
            </a:r>
            <a:endParaRPr lang="en-US" sz="1200" dirty="0"/>
          </a:p>
        </p:txBody>
      </p:sp>
      <p:sp>
        <p:nvSpPr>
          <p:cNvPr id="47" name="Shape 45"/>
          <p:cNvSpPr/>
          <p:nvPr/>
        </p:nvSpPr>
        <p:spPr>
          <a:xfrm>
            <a:off x="3055925" y="5166360"/>
            <a:ext cx="888797" cy="329184"/>
          </a:xfrm>
          <a:prstGeom prst="roundRect">
            <a:avLst>
              <a:gd name="adj" fmla="val 50000"/>
            </a:avLst>
          </a:prstGeom>
          <a:solidFill>
            <a:srgbClr val="F4F6F0"/>
          </a:solidFill>
          <a:ln w="9525">
            <a:solidFill>
              <a:srgbClr val="E3E6DE"/>
            </a:solidFill>
            <a:prstDash val="solid"/>
          </a:ln>
        </p:spPr>
      </p:sp>
      <p:sp>
        <p:nvSpPr>
          <p:cNvPr id="48" name="Text 46"/>
          <p:cNvSpPr txBox="1"/>
          <p:nvPr/>
        </p:nvSpPr>
        <p:spPr>
          <a:xfrm>
            <a:off x="3055925" y="5166360"/>
            <a:ext cx="888797" cy="329184"/>
          </a:xfrm>
          <a:prstGeom prst="rect">
            <a:avLst/>
          </a:prstGeom>
          <a:noFill/>
          <a:ln/>
        </p:spPr>
        <p:txBody>
          <a:bodyPr wrap="square" lIns="0" tIns="0" rIns="0" bIns="0" rtlCol="0" anchor="ctr"/>
          <a:lstStyle/>
          <a:p>
            <a:pPr algn="ctr" indent="0" marL="0">
              <a:buNone/>
            </a:pPr>
            <a:r>
              <a:rPr lang="en-US" sz="1200" dirty="0">
                <a:solidFill>
                  <a:srgbClr val="14171C"/>
                </a:solidFill>
                <a:latin typeface="Courier New" pitchFamily="34" charset="0"/>
                <a:ea typeface="Courier New" pitchFamily="34" charset="-122"/>
                <a:cs typeface="Courier New" pitchFamily="34" charset="-120"/>
              </a:rPr>
              <a:t>finish</a:t>
            </a:r>
            <a:endParaRPr lang="en-US" sz="1200" dirty="0"/>
          </a:p>
        </p:txBody>
      </p:sp>
      <p:sp>
        <p:nvSpPr>
          <p:cNvPr id="49" name="Shape 47"/>
          <p:cNvSpPr/>
          <p:nvPr/>
        </p:nvSpPr>
        <p:spPr>
          <a:xfrm>
            <a:off x="640080" y="5824728"/>
            <a:ext cx="128016" cy="128016"/>
          </a:xfrm>
          <a:prstGeom prst="ellipse">
            <a:avLst/>
          </a:prstGeom>
          <a:solidFill>
            <a:srgbClr val="D4FF3A"/>
          </a:solidFill>
          <a:ln w="9525">
            <a:solidFill>
              <a:srgbClr val="3F5A00"/>
            </a:solidFill>
            <a:prstDash val="solid"/>
          </a:ln>
        </p:spPr>
      </p:sp>
      <p:sp>
        <p:nvSpPr>
          <p:cNvPr id="50" name="Text 48"/>
          <p:cNvSpPr txBox="1"/>
          <p:nvPr/>
        </p:nvSpPr>
        <p:spPr>
          <a:xfrm>
            <a:off x="914400" y="5715000"/>
            <a:ext cx="5029200" cy="640080"/>
          </a:xfrm>
          <a:prstGeom prst="rect">
            <a:avLst/>
          </a:prstGeom>
          <a:noFill/>
          <a:ln/>
        </p:spPr>
        <p:txBody>
          <a:bodyPr wrap="square" lIns="0" tIns="0" rIns="0" bIns="0" rtlCol="0" anchor="t"/>
          <a:lstStyle/>
          <a:p>
            <a:pPr indent="0" marL="0">
              <a:buNone/>
            </a:pPr>
            <a:r>
              <a:rPr lang="en-US" sz="1300" b="1" dirty="0">
                <a:solidFill>
                  <a:srgbClr val="14171C"/>
                </a:solidFill>
                <a:latin typeface="Calibri" pitchFamily="34" charset="0"/>
                <a:ea typeface="Calibri" pitchFamily="34" charset="-122"/>
                <a:cs typeface="Calibri" pitchFamily="34" charset="-120"/>
              </a:rPr>
              <a:t>No agent framework.</a:t>
            </a:r>
            <a:pPr indent="0" marL="0">
              <a:buNone/>
            </a:pPr>
            <a:r>
              <a:rPr lang="en-US" sz="1300" dirty="0">
                <a:solidFill>
                  <a:srgbClr val="5B6270"/>
                </a:solidFill>
                <a:latin typeface="Calibri" pitchFamily="34" charset="0"/>
                <a:ea typeface="Calibri" pitchFamily="34" charset="-122"/>
                <a:cs typeface="Calibri" pitchFamily="34" charset="-120"/>
              </a:rPr>
              <a:t> No LangChain, no CrewAI. The loop, tool registry and rule validator are plain Python you can read.</a:t>
            </a:r>
            <a:endParaRPr lang="en-US" sz="1300" dirty="0"/>
          </a:p>
        </p:txBody>
      </p:sp>
      <p:sp>
        <p:nvSpPr>
          <p:cNvPr id="51" name="Shape 49"/>
          <p:cNvSpPr/>
          <p:nvPr/>
        </p:nvSpPr>
        <p:spPr>
          <a:xfrm>
            <a:off x="6172200" y="5824728"/>
            <a:ext cx="128016" cy="128016"/>
          </a:xfrm>
          <a:prstGeom prst="ellipse">
            <a:avLst/>
          </a:prstGeom>
          <a:solidFill>
            <a:srgbClr val="D4FF3A"/>
          </a:solidFill>
          <a:ln w="9525">
            <a:solidFill>
              <a:srgbClr val="3F5A00"/>
            </a:solidFill>
            <a:prstDash val="solid"/>
          </a:ln>
        </p:spPr>
      </p:sp>
      <p:sp>
        <p:nvSpPr>
          <p:cNvPr id="52" name="Text 50"/>
          <p:cNvSpPr txBox="1"/>
          <p:nvPr/>
        </p:nvSpPr>
        <p:spPr>
          <a:xfrm>
            <a:off x="6446520" y="5715000"/>
            <a:ext cx="5029200" cy="640080"/>
          </a:xfrm>
          <a:prstGeom prst="rect">
            <a:avLst/>
          </a:prstGeom>
          <a:noFill/>
          <a:ln/>
        </p:spPr>
        <p:txBody>
          <a:bodyPr wrap="square" lIns="0" tIns="0" rIns="0" bIns="0" rtlCol="0" anchor="t"/>
          <a:lstStyle/>
          <a:p>
            <a:pPr indent="0" marL="0">
              <a:buNone/>
            </a:pPr>
            <a:r>
              <a:rPr lang="en-US" sz="1300" b="1" dirty="0">
                <a:solidFill>
                  <a:srgbClr val="14171C"/>
                </a:solidFill>
                <a:latin typeface="Calibri" pitchFamily="34" charset="0"/>
                <a:ea typeface="Calibri" pitchFamily="34" charset="-122"/>
                <a:cs typeface="Calibri" pitchFamily="34" charset="-120"/>
              </a:rPr>
              <a:t>Wrap-up guard.</a:t>
            </a:r>
            <a:pPr indent="0" marL="0">
              <a:buNone/>
            </a:pPr>
            <a:r>
              <a:rPr lang="en-US" sz="1300" dirty="0">
                <a:solidFill>
                  <a:srgbClr val="5B6270"/>
                </a:solidFill>
                <a:latin typeface="Calibri" pitchFamily="34" charset="0"/>
                <a:ea typeface="Calibri" pitchFamily="34" charset="-122"/>
                <a:cs typeface="Calibri" pitchFamily="34" charset="-120"/>
              </a:rPr>
              <a:t> If searches stop finding new businesses, it stops searching and always finishes the pipeline.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914400"/>
          </a:xfrm>
          <a:prstGeom prst="rect">
            <a:avLst/>
          </a:prstGeom>
          <a:noFill/>
          <a:ln/>
        </p:spPr>
        <p:txBody>
          <a:bodyPr wrap="square" lIns="0" tIns="0" rIns="0" bIns="0" rtlCol="0" anchor="ctr"/>
          <a:lstStyle/>
          <a:p>
            <a:pPr indent="0" marL="0">
              <a:buNone/>
            </a:pPr>
            <a:r>
              <a:rPr lang="en-US" sz="3000" b="1" dirty="0">
                <a:solidFill>
                  <a:srgbClr val="14171C"/>
                </a:solidFill>
                <a:latin typeface="Arial" pitchFamily="34" charset="0"/>
                <a:ea typeface="Arial" pitchFamily="34" charset="-122"/>
                <a:cs typeface="Arial" pitchFamily="34" charset="-120"/>
              </a:rPr>
              <a:t>Watch it think. Then </a:t>
            </a:r>
            <a:pPr indent="0" marL="0">
              <a:buNone/>
            </a:pPr>
            <a:r>
              <a:rPr lang="en-US" sz="3000" b="1" i="1" dirty="0">
                <a:solidFill>
                  <a:srgbClr val="14171C"/>
                </a:solidFill>
                <a:highlight>
                  <a:srgbClr val="D4FF3A"/>
                </a:highlight>
                <a:latin typeface="Cambria" pitchFamily="34" charset="0"/>
                <a:ea typeface="Cambria" pitchFamily="34" charset="-122"/>
                <a:cs typeface="Cambria" pitchFamily="34" charset="-120"/>
              </a:rPr>
              <a:t>call</a:t>
            </a:r>
            <a:pPr indent="0" marL="0">
              <a:buNone/>
            </a:pPr>
            <a:r>
              <a:rPr lang="en-US" sz="3000" b="1" dirty="0">
                <a:solidFill>
                  <a:srgbClr val="14171C"/>
                </a:solidFill>
                <a:latin typeface="Arial" pitchFamily="34" charset="0"/>
                <a:ea typeface="Arial" pitchFamily="34" charset="-122"/>
                <a:cs typeface="Arial" pitchFamily="34" charset="-120"/>
              </a:rPr>
              <a:t> the lead's AI receptionist.</a:t>
            </a:r>
            <a:endParaRPr lang="en-US" sz="3000" dirty="0"/>
          </a:p>
        </p:txBody>
      </p:sp>
      <p:sp>
        <p:nvSpPr>
          <p:cNvPr id="3" name="Shape 1"/>
          <p:cNvSpPr/>
          <p:nvPr/>
        </p:nvSpPr>
        <p:spPr>
          <a:xfrm>
            <a:off x="640080" y="1554480"/>
            <a:ext cx="5330952" cy="3400425"/>
          </a:xfrm>
          <a:prstGeom prst="roundRect">
            <a:avLst>
              <a:gd name="adj" fmla="val 3227"/>
            </a:avLst>
          </a:prstGeom>
          <a:solidFill>
            <a:srgbClr val="0A0B0D"/>
          </a:solidFill>
          <a:ln w="12700">
            <a:solidFill>
              <a:srgbClr val="0A0B0D"/>
            </a:solidFill>
            <a:prstDash val="solid"/>
          </a:ln>
          <a:effectLst>
            <a:outerShdw sx="100000" sy="100000" kx="0" ky="0" algn="bl" rotWithShape="0" blurRad="177800" dist="50800" dir="5400000">
              <a:srgbClr val="000000">
                <a:alpha val="16000"/>
              </a:srgbClr>
            </a:outerShdw>
          </a:effectLst>
        </p:spPr>
      </p:sp>
      <p:pic>
        <p:nvPicPr>
          <p:cNvPr id="4" name="Image 0" descr="C:\Users\Nilesh\Downloads\code\prospector\docs\presentation\run-done.png">    </p:cNvPr>
          <p:cNvPicPr>
            <a:picLocks noChangeAspect="1"/>
          </p:cNvPicPr>
          <p:nvPr/>
        </p:nvPicPr>
        <p:blipFill>
          <a:blip r:embed="rId1"/>
          <a:stretch>
            <a:fillRect/>
          </a:stretch>
        </p:blipFill>
        <p:spPr>
          <a:xfrm>
            <a:off x="731520" y="1645920"/>
            <a:ext cx="5148072" cy="3217545"/>
          </a:xfrm>
          <a:prstGeom prst="rect">
            <a:avLst/>
          </a:prstGeom>
        </p:spPr>
      </p:pic>
      <p:sp>
        <p:nvSpPr>
          <p:cNvPr id="5" name="Shape 2"/>
          <p:cNvSpPr/>
          <p:nvPr/>
        </p:nvSpPr>
        <p:spPr>
          <a:xfrm>
            <a:off x="6217920" y="1554480"/>
            <a:ext cx="5330952" cy="3400425"/>
          </a:xfrm>
          <a:prstGeom prst="roundRect">
            <a:avLst>
              <a:gd name="adj" fmla="val 3227"/>
            </a:avLst>
          </a:prstGeom>
          <a:solidFill>
            <a:srgbClr val="0A0B0D"/>
          </a:solidFill>
          <a:ln w="12700">
            <a:solidFill>
              <a:srgbClr val="0A0B0D"/>
            </a:solidFill>
            <a:prstDash val="solid"/>
          </a:ln>
          <a:effectLst>
            <a:outerShdw sx="100000" sy="100000" kx="0" ky="0" algn="bl" rotWithShape="0" blurRad="177800" dist="50800" dir="5400000">
              <a:srgbClr val="000000">
                <a:alpha val="16000"/>
              </a:srgbClr>
            </a:outerShdw>
          </a:effectLst>
        </p:spPr>
      </p:sp>
      <p:pic>
        <p:nvPicPr>
          <p:cNvPr id="6" name="Image 1" descr="C:\Users\Nilesh\Downloads\code\prospector\docs\presentation\call.png">    </p:cNvPr>
          <p:cNvPicPr>
            <a:picLocks noChangeAspect="1"/>
          </p:cNvPicPr>
          <p:nvPr/>
        </p:nvPicPr>
        <p:blipFill>
          <a:blip r:embed="rId2"/>
          <a:stretch>
            <a:fillRect/>
          </a:stretch>
        </p:blipFill>
        <p:spPr>
          <a:xfrm>
            <a:off x="6309360" y="1645920"/>
            <a:ext cx="5148072" cy="3217545"/>
          </a:xfrm>
          <a:prstGeom prst="rect">
            <a:avLst/>
          </a:prstGeom>
        </p:spPr>
      </p:pic>
      <p:sp>
        <p:nvSpPr>
          <p:cNvPr id="7" name="Text 3"/>
          <p:cNvSpPr txBox="1"/>
          <p:nvPr/>
        </p:nvSpPr>
        <p:spPr>
          <a:xfrm>
            <a:off x="640080" y="5229225"/>
            <a:ext cx="5330952" cy="320040"/>
          </a:xfrm>
          <a:prstGeom prst="rect">
            <a:avLst/>
          </a:prstGeom>
          <a:noFill/>
          <a:ln/>
        </p:spPr>
        <p:txBody>
          <a:bodyPr wrap="square" lIns="0" tIns="0" rIns="0" bIns="0" rtlCol="0" anchor="t"/>
          <a:lstStyle/>
          <a:p>
            <a:pPr indent="0" marL="0">
              <a:buNone/>
            </a:pPr>
            <a:r>
              <a:rPr lang="en-US" sz="1500" b="1" dirty="0">
                <a:solidFill>
                  <a:srgbClr val="14171C"/>
                </a:solidFill>
                <a:latin typeface="Arial" pitchFamily="34" charset="0"/>
                <a:ea typeface="Arial" pitchFamily="34" charset="-122"/>
                <a:cs typeface="Arial" pitchFamily="34" charset="-120"/>
              </a:rPr>
              <a:t>Mission control</a:t>
            </a:r>
            <a:endParaRPr lang="en-US" sz="1500" dirty="0"/>
          </a:p>
        </p:txBody>
      </p:sp>
      <p:sp>
        <p:nvSpPr>
          <p:cNvPr id="8" name="Text 4"/>
          <p:cNvSpPr txBox="1"/>
          <p:nvPr/>
        </p:nvSpPr>
        <p:spPr>
          <a:xfrm>
            <a:off x="640080" y="5576697"/>
            <a:ext cx="5330952" cy="914400"/>
          </a:xfrm>
          <a:prstGeom prst="rect">
            <a:avLst/>
          </a:prstGeom>
          <a:noFill/>
          <a:ln/>
        </p:spPr>
        <p:txBody>
          <a:bodyPr wrap="square" lIns="0" tIns="0" rIns="0" bIns="0" rtlCol="0" anchor="t"/>
          <a:lstStyle/>
          <a:p>
            <a:pPr indent="0" marL="0">
              <a:buNone/>
            </a:pPr>
            <a:r>
              <a:rPr lang="en-US" sz="1250" dirty="0">
                <a:solidFill>
                  <a:srgbClr val="5B6270"/>
                </a:solidFill>
                <a:latin typeface="Calibri" pitchFamily="34" charset="0"/>
                <a:ea typeface="Calibri" pitchFamily="34" charset="-122"/>
                <a:cs typeface="Calibri" pitchFamily="34" charset="-120"/>
              </a:rPr>
              <a:t>A live map fills with pins, the plan ticks off, and every thought, tool call and failure streams in as it happens.</a:t>
            </a:r>
            <a:endParaRPr lang="en-US" sz="1250" dirty="0"/>
          </a:p>
        </p:txBody>
      </p:sp>
      <p:sp>
        <p:nvSpPr>
          <p:cNvPr id="9" name="Text 5"/>
          <p:cNvSpPr txBox="1"/>
          <p:nvPr/>
        </p:nvSpPr>
        <p:spPr>
          <a:xfrm>
            <a:off x="6217920" y="5229225"/>
            <a:ext cx="5330952" cy="320040"/>
          </a:xfrm>
          <a:prstGeom prst="rect">
            <a:avLst/>
          </a:prstGeom>
          <a:noFill/>
          <a:ln/>
        </p:spPr>
        <p:txBody>
          <a:bodyPr wrap="square" lIns="0" tIns="0" rIns="0" bIns="0" rtlCol="0" anchor="t"/>
          <a:lstStyle/>
          <a:p>
            <a:pPr indent="0" marL="0">
              <a:buNone/>
            </a:pPr>
            <a:r>
              <a:rPr lang="en-US" sz="1500" b="1" dirty="0">
                <a:solidFill>
                  <a:srgbClr val="14171C"/>
                </a:solidFill>
                <a:latin typeface="Arial" pitchFamily="34" charset="0"/>
                <a:ea typeface="Arial" pitchFamily="34" charset="-122"/>
                <a:cs typeface="Arial" pitchFamily="34" charset="-120"/>
              </a:rPr>
              <a:t>Live voice call with the Gemini Live API</a:t>
            </a:r>
            <a:endParaRPr lang="en-US" sz="1500" dirty="0"/>
          </a:p>
        </p:txBody>
      </p:sp>
      <p:sp>
        <p:nvSpPr>
          <p:cNvPr id="10" name="Text 6"/>
          <p:cNvSpPr txBox="1"/>
          <p:nvPr/>
        </p:nvSpPr>
        <p:spPr>
          <a:xfrm>
            <a:off x="6217920" y="5576697"/>
            <a:ext cx="5330952" cy="914400"/>
          </a:xfrm>
          <a:prstGeom prst="rect">
            <a:avLst/>
          </a:prstGeom>
          <a:noFill/>
          <a:ln/>
        </p:spPr>
        <p:txBody>
          <a:bodyPr wrap="square" lIns="0" tIns="0" rIns="0" bIns="0" rtlCol="0" anchor="t"/>
          <a:lstStyle/>
          <a:p>
            <a:pPr indent="0" marL="0">
              <a:buNone/>
            </a:pPr>
            <a:r>
              <a:rPr lang="en-US" sz="1250" dirty="0">
                <a:solidFill>
                  <a:srgbClr val="5B6270"/>
                </a:solidFill>
                <a:latin typeface="Calibri" pitchFamily="34" charset="0"/>
                <a:ea typeface="Calibri" pitchFamily="34" charset="-122"/>
                <a:cs typeface="Calibri" pitchFamily="34" charset="-120"/>
              </a:rPr>
              <a:t>The persona uses only facts the agent observed. Barge-in, live captions, takes messages, and replies in Hindi or Marathi. The browser gets a one-use token; the API key never leaves the server.</a:t>
            </a:r>
            <a:endParaRPr lang="en-US" sz="1250" dirty="0"/>
          </a:p>
        </p:txBody>
      </p:sp>
      <p:sp>
        <p:nvSpPr>
          <p:cNvPr id="11" name="Text 7"/>
          <p:cNvSpPr txBox="1"/>
          <p:nvPr/>
        </p:nvSpPr>
        <p:spPr>
          <a:xfrm>
            <a:off x="640080" y="6446520"/>
            <a:ext cx="7315200" cy="228600"/>
          </a:xfrm>
          <a:prstGeom prst="rect">
            <a:avLst/>
          </a:prstGeom>
          <a:noFill/>
          <a:ln/>
        </p:spPr>
        <p:txBody>
          <a:bodyPr wrap="square" lIns="0" tIns="0" rIns="0" bIns="0" rtlCol="0" anchor="t"/>
          <a:lstStyle/>
          <a:p>
            <a:pPr indent="0" marL="0">
              <a:buNone/>
            </a:pPr>
            <a:r>
              <a:rPr lang="en-US" sz="900" i="1" dirty="0">
                <a:solidFill>
                  <a:srgbClr val="9AA0A8"/>
                </a:solidFill>
                <a:latin typeface="Calibri" pitchFamily="34" charset="0"/>
                <a:ea typeface="Calibri" pitchFamily="34" charset="-122"/>
                <a:cs typeface="Calibri" pitchFamily="34" charset="-120"/>
              </a:rPr>
              <a:t>Screenshots: the app running on the end-to-end test data set.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914400"/>
          </a:xfrm>
          <a:prstGeom prst="rect">
            <a:avLst/>
          </a:prstGeom>
          <a:noFill/>
          <a:ln/>
        </p:spPr>
        <p:txBody>
          <a:bodyPr wrap="square" lIns="0" tIns="0" rIns="0" bIns="0" rtlCol="0" anchor="ctr"/>
          <a:lstStyle/>
          <a:p>
            <a:pPr indent="0" marL="0">
              <a:buNone/>
            </a:pPr>
            <a:r>
              <a:rPr lang="en-US" sz="3000" b="1" dirty="0">
                <a:solidFill>
                  <a:srgbClr val="14171C"/>
                </a:solidFill>
                <a:latin typeface="Arial" pitchFamily="34" charset="0"/>
                <a:ea typeface="Arial" pitchFamily="34" charset="-122"/>
                <a:cs typeface="Arial" pitchFamily="34" charset="-120"/>
              </a:rPr>
              <a:t>It learns what a good lead means to you, </a:t>
            </a:r>
            <a:pPr indent="0" marL="0">
              <a:buNone/>
            </a:pPr>
            <a:r>
              <a:rPr lang="en-US" sz="3000" b="1" i="1" dirty="0">
                <a:solidFill>
                  <a:srgbClr val="14171C"/>
                </a:solidFill>
                <a:highlight>
                  <a:srgbClr val="D4FF3A"/>
                </a:highlight>
                <a:latin typeface="Cambria" pitchFamily="34" charset="0"/>
                <a:ea typeface="Cambria" pitchFamily="34" charset="-122"/>
                <a:cs typeface="Cambria" pitchFamily="34" charset="-120"/>
              </a:rPr>
              <a:t>and proves it.</a:t>
            </a:r>
            <a:endParaRPr lang="en-US" sz="3000" dirty="0"/>
          </a:p>
        </p:txBody>
      </p:sp>
      <p:sp>
        <p:nvSpPr>
          <p:cNvPr id="3" name="Shape 1"/>
          <p:cNvSpPr/>
          <p:nvPr/>
        </p:nvSpPr>
        <p:spPr>
          <a:xfrm>
            <a:off x="640080" y="1554480"/>
            <a:ext cx="5394960" cy="3440430"/>
          </a:xfrm>
          <a:prstGeom prst="roundRect">
            <a:avLst>
              <a:gd name="adj" fmla="val 3189"/>
            </a:avLst>
          </a:prstGeom>
          <a:solidFill>
            <a:srgbClr val="0A0B0D"/>
          </a:solidFill>
          <a:ln w="12700">
            <a:solidFill>
              <a:srgbClr val="0A0B0D"/>
            </a:solidFill>
            <a:prstDash val="solid"/>
          </a:ln>
          <a:effectLst>
            <a:outerShdw sx="100000" sy="100000" kx="0" ky="0" algn="bl" rotWithShape="0" blurRad="177800" dist="50800" dir="5400000">
              <a:srgbClr val="000000">
                <a:alpha val="16000"/>
              </a:srgbClr>
            </a:outerShdw>
          </a:effectLst>
        </p:spPr>
      </p:sp>
      <p:pic>
        <p:nvPicPr>
          <p:cNvPr id="4" name="Image 0" descr="C:\Users\Nilesh\Downloads\code\prospector\docs\presentation\review.png">    </p:cNvPr>
          <p:cNvPicPr>
            <a:picLocks noChangeAspect="1"/>
          </p:cNvPicPr>
          <p:nvPr/>
        </p:nvPicPr>
        <p:blipFill>
          <a:blip r:embed="rId1"/>
          <a:stretch>
            <a:fillRect/>
          </a:stretch>
        </p:blipFill>
        <p:spPr>
          <a:xfrm>
            <a:off x="731520" y="1645920"/>
            <a:ext cx="5212080" cy="3257550"/>
          </a:xfrm>
          <a:prstGeom prst="rect">
            <a:avLst/>
          </a:prstGeom>
        </p:spPr>
      </p:pic>
      <p:sp>
        <p:nvSpPr>
          <p:cNvPr id="5" name="Shape 2"/>
          <p:cNvSpPr/>
          <p:nvPr/>
        </p:nvSpPr>
        <p:spPr>
          <a:xfrm>
            <a:off x="6446520" y="1600200"/>
            <a:ext cx="420624" cy="420624"/>
          </a:xfrm>
          <a:prstGeom prst="ellipse">
            <a:avLst/>
          </a:prstGeom>
          <a:solidFill>
            <a:srgbClr val="D4FF3A"/>
          </a:solidFill>
          <a:ln w="12700">
            <a:solidFill>
              <a:srgbClr val="D4FF3A"/>
            </a:solidFill>
            <a:prstDash val="solid"/>
          </a:ln>
        </p:spPr>
      </p:sp>
      <p:sp>
        <p:nvSpPr>
          <p:cNvPr id="6" name="Text 3"/>
          <p:cNvSpPr txBox="1"/>
          <p:nvPr/>
        </p:nvSpPr>
        <p:spPr>
          <a:xfrm>
            <a:off x="6446520" y="1600200"/>
            <a:ext cx="420624" cy="420624"/>
          </a:xfrm>
          <a:prstGeom prst="rect">
            <a:avLst/>
          </a:prstGeom>
          <a:noFill/>
          <a:ln/>
        </p:spPr>
        <p:txBody>
          <a:bodyPr wrap="square" lIns="0" tIns="0" rIns="0" bIns="0" rtlCol="0" anchor="ctr"/>
          <a:lstStyle/>
          <a:p>
            <a:pPr algn="ctr" indent="0" marL="0">
              <a:buNone/>
            </a:pPr>
            <a:r>
              <a:rPr lang="en-US" sz="1300" b="1" dirty="0">
                <a:solidFill>
                  <a:srgbClr val="14171C"/>
                </a:solidFill>
                <a:latin typeface="Arial" pitchFamily="34" charset="0"/>
                <a:ea typeface="Arial" pitchFamily="34" charset="-122"/>
                <a:cs typeface="Arial" pitchFamily="34" charset="-120"/>
              </a:rPr>
              <a:t>1</a:t>
            </a:r>
            <a:endParaRPr lang="en-US" sz="1300" dirty="0"/>
          </a:p>
        </p:txBody>
      </p:sp>
      <p:sp>
        <p:nvSpPr>
          <p:cNvPr id="7" name="Text 4"/>
          <p:cNvSpPr txBox="1"/>
          <p:nvPr/>
        </p:nvSpPr>
        <p:spPr>
          <a:xfrm>
            <a:off x="7040880" y="1581912"/>
            <a:ext cx="4480560" cy="329184"/>
          </a:xfrm>
          <a:prstGeom prst="rect">
            <a:avLst/>
          </a:prstGeom>
          <a:noFill/>
          <a:ln/>
        </p:spPr>
        <p:txBody>
          <a:bodyPr wrap="square" lIns="0" tIns="0" rIns="0" bIns="0" rtlCol="0" anchor="t"/>
          <a:lstStyle/>
          <a:p>
            <a:pPr indent="0" marL="0">
              <a:buNone/>
            </a:pPr>
            <a:r>
              <a:rPr lang="en-US" sz="1600" b="1" dirty="0">
                <a:solidFill>
                  <a:srgbClr val="14171C"/>
                </a:solidFill>
                <a:latin typeface="Arial" pitchFamily="34" charset="0"/>
                <a:ea typeface="Arial" pitchFamily="34" charset="-122"/>
                <a:cs typeface="Arial" pitchFamily="34" charset="-120"/>
              </a:rPr>
              <a:t>You label leads Good or Bad</a:t>
            </a:r>
            <a:endParaRPr lang="en-US" sz="1600" dirty="0"/>
          </a:p>
        </p:txBody>
      </p:sp>
      <p:sp>
        <p:nvSpPr>
          <p:cNvPr id="8" name="Text 5"/>
          <p:cNvSpPr txBox="1"/>
          <p:nvPr/>
        </p:nvSpPr>
        <p:spPr>
          <a:xfrm>
            <a:off x="7040880" y="1929384"/>
            <a:ext cx="4480560" cy="365760"/>
          </a:xfrm>
          <a:prstGeom prst="rect">
            <a:avLst/>
          </a:prstGeom>
          <a:noFill/>
          <a:ln/>
        </p:spPr>
        <p:txBody>
          <a:bodyPr wrap="square" lIns="0" tIns="0" rIns="0" bIns="0" rtlCol="0" anchor="t"/>
          <a:lstStyle/>
          <a:p>
            <a:pPr indent="0" marL="0">
              <a:buNone/>
            </a:pPr>
            <a:r>
              <a:rPr lang="en-US" sz="1300" dirty="0">
                <a:solidFill>
                  <a:srgbClr val="5B6270"/>
                </a:solidFill>
                <a:latin typeface="Calibri" pitchFamily="34" charset="0"/>
                <a:ea typeface="Calibri" pitchFamily="34" charset="-122"/>
                <a:cs typeface="Calibri" pitchFamily="34" charset="-120"/>
              </a:rPr>
              <a:t>One key per lead on the review page (G / B).</a:t>
            </a:r>
            <a:endParaRPr lang="en-US" sz="1300" dirty="0"/>
          </a:p>
        </p:txBody>
      </p:sp>
      <p:sp>
        <p:nvSpPr>
          <p:cNvPr id="9" name="Shape 6"/>
          <p:cNvSpPr/>
          <p:nvPr/>
        </p:nvSpPr>
        <p:spPr>
          <a:xfrm>
            <a:off x="6446520" y="2496312"/>
            <a:ext cx="420624" cy="420624"/>
          </a:xfrm>
          <a:prstGeom prst="ellipse">
            <a:avLst/>
          </a:prstGeom>
          <a:solidFill>
            <a:srgbClr val="D4FF3A"/>
          </a:solidFill>
          <a:ln w="12700">
            <a:solidFill>
              <a:srgbClr val="D4FF3A"/>
            </a:solidFill>
            <a:prstDash val="solid"/>
          </a:ln>
        </p:spPr>
      </p:sp>
      <p:sp>
        <p:nvSpPr>
          <p:cNvPr id="10" name="Text 7"/>
          <p:cNvSpPr txBox="1"/>
          <p:nvPr/>
        </p:nvSpPr>
        <p:spPr>
          <a:xfrm>
            <a:off x="6446520" y="2496312"/>
            <a:ext cx="420624" cy="420624"/>
          </a:xfrm>
          <a:prstGeom prst="rect">
            <a:avLst/>
          </a:prstGeom>
          <a:noFill/>
          <a:ln/>
        </p:spPr>
        <p:txBody>
          <a:bodyPr wrap="square" lIns="0" tIns="0" rIns="0" bIns="0" rtlCol="0" anchor="ctr"/>
          <a:lstStyle/>
          <a:p>
            <a:pPr algn="ctr" indent="0" marL="0">
              <a:buNone/>
            </a:pPr>
            <a:r>
              <a:rPr lang="en-US" sz="1300" b="1" dirty="0">
                <a:solidFill>
                  <a:srgbClr val="14171C"/>
                </a:solidFill>
                <a:latin typeface="Arial" pitchFamily="34" charset="0"/>
                <a:ea typeface="Arial" pitchFamily="34" charset="-122"/>
                <a:cs typeface="Arial" pitchFamily="34" charset="-120"/>
              </a:rPr>
              <a:t>2</a:t>
            </a:r>
            <a:endParaRPr lang="en-US" sz="1300" dirty="0"/>
          </a:p>
        </p:txBody>
      </p:sp>
      <p:sp>
        <p:nvSpPr>
          <p:cNvPr id="11" name="Text 8"/>
          <p:cNvSpPr txBox="1"/>
          <p:nvPr/>
        </p:nvSpPr>
        <p:spPr>
          <a:xfrm>
            <a:off x="7040880" y="2478024"/>
            <a:ext cx="4480560" cy="329184"/>
          </a:xfrm>
          <a:prstGeom prst="rect">
            <a:avLst/>
          </a:prstGeom>
          <a:noFill/>
          <a:ln/>
        </p:spPr>
        <p:txBody>
          <a:bodyPr wrap="square" lIns="0" tIns="0" rIns="0" bIns="0" rtlCol="0" anchor="t"/>
          <a:lstStyle/>
          <a:p>
            <a:pPr indent="0" marL="0">
              <a:buNone/>
            </a:pPr>
            <a:r>
              <a:rPr lang="en-US" sz="1600" b="1" dirty="0">
                <a:solidFill>
                  <a:srgbClr val="14171C"/>
                </a:solidFill>
                <a:latin typeface="Arial" pitchFamily="34" charset="0"/>
                <a:ea typeface="Arial" pitchFamily="34" charset="-122"/>
                <a:cs typeface="Arial" pitchFamily="34" charset="-120"/>
              </a:rPr>
              <a:t>The LLM proposes new scoring rules</a:t>
            </a:r>
            <a:endParaRPr lang="en-US" sz="1600" dirty="0"/>
          </a:p>
        </p:txBody>
      </p:sp>
      <p:sp>
        <p:nvSpPr>
          <p:cNvPr id="12" name="Text 9"/>
          <p:cNvSpPr txBox="1"/>
          <p:nvPr/>
        </p:nvSpPr>
        <p:spPr>
          <a:xfrm>
            <a:off x="7040880" y="2825496"/>
            <a:ext cx="4480560" cy="365760"/>
          </a:xfrm>
          <a:prstGeom prst="rect">
            <a:avLst/>
          </a:prstGeom>
          <a:noFill/>
          <a:ln/>
        </p:spPr>
        <p:txBody>
          <a:bodyPr wrap="square" lIns="0" tIns="0" rIns="0" bIns="0" rtlCol="0" anchor="t"/>
          <a:lstStyle/>
          <a:p>
            <a:pPr indent="0" marL="0">
              <a:buNone/>
            </a:pPr>
            <a:r>
              <a:rPr lang="en-US" sz="1300" dirty="0">
                <a:solidFill>
                  <a:srgbClr val="5B6270"/>
                </a:solidFill>
                <a:latin typeface="Calibri" pitchFamily="34" charset="0"/>
                <a:ea typeface="Calibri" pitchFamily="34" charset="-122"/>
                <a:cs typeface="Calibri" pitchFamily="34" charset="-120"/>
              </a:rPr>
              <a:t>It reflects on the leads it scored wrong.</a:t>
            </a:r>
            <a:endParaRPr lang="en-US" sz="1300" dirty="0"/>
          </a:p>
        </p:txBody>
      </p:sp>
      <p:sp>
        <p:nvSpPr>
          <p:cNvPr id="13" name="Shape 10"/>
          <p:cNvSpPr/>
          <p:nvPr/>
        </p:nvSpPr>
        <p:spPr>
          <a:xfrm>
            <a:off x="6446520" y="3392424"/>
            <a:ext cx="420624" cy="420624"/>
          </a:xfrm>
          <a:prstGeom prst="ellipse">
            <a:avLst/>
          </a:prstGeom>
          <a:solidFill>
            <a:srgbClr val="D4FF3A"/>
          </a:solidFill>
          <a:ln w="12700">
            <a:solidFill>
              <a:srgbClr val="D4FF3A"/>
            </a:solidFill>
            <a:prstDash val="solid"/>
          </a:ln>
        </p:spPr>
      </p:sp>
      <p:sp>
        <p:nvSpPr>
          <p:cNvPr id="14" name="Text 11"/>
          <p:cNvSpPr txBox="1"/>
          <p:nvPr/>
        </p:nvSpPr>
        <p:spPr>
          <a:xfrm>
            <a:off x="6446520" y="3392424"/>
            <a:ext cx="420624" cy="420624"/>
          </a:xfrm>
          <a:prstGeom prst="rect">
            <a:avLst/>
          </a:prstGeom>
          <a:noFill/>
          <a:ln/>
        </p:spPr>
        <p:txBody>
          <a:bodyPr wrap="square" lIns="0" tIns="0" rIns="0" bIns="0" rtlCol="0" anchor="ctr"/>
          <a:lstStyle/>
          <a:p>
            <a:pPr algn="ctr" indent="0" marL="0">
              <a:buNone/>
            </a:pPr>
            <a:r>
              <a:rPr lang="en-US" sz="1300" b="1" dirty="0">
                <a:solidFill>
                  <a:srgbClr val="14171C"/>
                </a:solidFill>
                <a:latin typeface="Arial" pitchFamily="34" charset="0"/>
                <a:ea typeface="Arial" pitchFamily="34" charset="-122"/>
                <a:cs typeface="Arial" pitchFamily="34" charset="-120"/>
              </a:rPr>
              <a:t>3</a:t>
            </a:r>
            <a:endParaRPr lang="en-US" sz="1300" dirty="0"/>
          </a:p>
        </p:txBody>
      </p:sp>
      <p:sp>
        <p:nvSpPr>
          <p:cNvPr id="15" name="Text 12"/>
          <p:cNvSpPr txBox="1"/>
          <p:nvPr/>
        </p:nvSpPr>
        <p:spPr>
          <a:xfrm>
            <a:off x="7040880" y="3374136"/>
            <a:ext cx="4480560" cy="329184"/>
          </a:xfrm>
          <a:prstGeom prst="rect">
            <a:avLst/>
          </a:prstGeom>
          <a:noFill/>
          <a:ln/>
        </p:spPr>
        <p:txBody>
          <a:bodyPr wrap="square" lIns="0" tIns="0" rIns="0" bIns="0" rtlCol="0" anchor="t"/>
          <a:lstStyle/>
          <a:p>
            <a:pPr indent="0" marL="0">
              <a:buNone/>
            </a:pPr>
            <a:r>
              <a:rPr lang="en-US" sz="1600" b="1" dirty="0">
                <a:solidFill>
                  <a:srgbClr val="14171C"/>
                </a:solidFill>
                <a:latin typeface="Arial" pitchFamily="34" charset="0"/>
                <a:ea typeface="Arial" pitchFamily="34" charset="-122"/>
                <a:cs typeface="Arial" pitchFamily="34" charset="-120"/>
              </a:rPr>
              <a:t>Each rule is tested on unseen leads</a:t>
            </a:r>
            <a:endParaRPr lang="en-US" sz="1600" dirty="0"/>
          </a:p>
        </p:txBody>
      </p:sp>
      <p:sp>
        <p:nvSpPr>
          <p:cNvPr id="16" name="Text 13"/>
          <p:cNvSpPr txBox="1"/>
          <p:nvPr/>
        </p:nvSpPr>
        <p:spPr>
          <a:xfrm>
            <a:off x="7040880" y="3721608"/>
            <a:ext cx="4480560" cy="365760"/>
          </a:xfrm>
          <a:prstGeom prst="rect">
            <a:avLst/>
          </a:prstGeom>
          <a:noFill/>
          <a:ln/>
        </p:spPr>
        <p:txBody>
          <a:bodyPr wrap="square" lIns="0" tIns="0" rIns="0" bIns="0" rtlCol="0" anchor="t"/>
          <a:lstStyle/>
          <a:p>
            <a:pPr indent="0" marL="0">
              <a:buNone/>
            </a:pPr>
            <a:r>
              <a:rPr lang="en-US" sz="1300" dirty="0">
                <a:solidFill>
                  <a:srgbClr val="5B6270"/>
                </a:solidFill>
                <a:latin typeface="Calibri" pitchFamily="34" charset="0"/>
                <a:ea typeface="Calibri" pitchFamily="34" charset="-122"/>
                <a:cs typeface="Calibri" pitchFamily="34" charset="-120"/>
              </a:rPr>
              <a:t>Rules are picked on one split and graded on a separate one.</a:t>
            </a:r>
            <a:endParaRPr lang="en-US" sz="1300" dirty="0"/>
          </a:p>
        </p:txBody>
      </p:sp>
      <p:sp>
        <p:nvSpPr>
          <p:cNvPr id="17" name="Shape 14"/>
          <p:cNvSpPr/>
          <p:nvPr/>
        </p:nvSpPr>
        <p:spPr>
          <a:xfrm>
            <a:off x="6446520" y="4288536"/>
            <a:ext cx="420624" cy="420624"/>
          </a:xfrm>
          <a:prstGeom prst="ellipse">
            <a:avLst/>
          </a:prstGeom>
          <a:solidFill>
            <a:srgbClr val="D4FF3A"/>
          </a:solidFill>
          <a:ln w="12700">
            <a:solidFill>
              <a:srgbClr val="D4FF3A"/>
            </a:solidFill>
            <a:prstDash val="solid"/>
          </a:ln>
        </p:spPr>
      </p:sp>
      <p:sp>
        <p:nvSpPr>
          <p:cNvPr id="18" name="Text 15"/>
          <p:cNvSpPr txBox="1"/>
          <p:nvPr/>
        </p:nvSpPr>
        <p:spPr>
          <a:xfrm>
            <a:off x="6446520" y="4288536"/>
            <a:ext cx="420624" cy="420624"/>
          </a:xfrm>
          <a:prstGeom prst="rect">
            <a:avLst/>
          </a:prstGeom>
          <a:noFill/>
          <a:ln/>
        </p:spPr>
        <p:txBody>
          <a:bodyPr wrap="square" lIns="0" tIns="0" rIns="0" bIns="0" rtlCol="0" anchor="ctr"/>
          <a:lstStyle/>
          <a:p>
            <a:pPr algn="ctr" indent="0" marL="0">
              <a:buNone/>
            </a:pPr>
            <a:r>
              <a:rPr lang="en-US" sz="1300" b="1" dirty="0">
                <a:solidFill>
                  <a:srgbClr val="14171C"/>
                </a:solidFill>
                <a:latin typeface="Arial" pitchFamily="34" charset="0"/>
                <a:ea typeface="Arial" pitchFamily="34" charset="-122"/>
                <a:cs typeface="Arial" pitchFamily="34" charset="-120"/>
              </a:rPr>
              <a:t>4</a:t>
            </a:r>
            <a:endParaRPr lang="en-US" sz="1300" dirty="0"/>
          </a:p>
        </p:txBody>
      </p:sp>
      <p:sp>
        <p:nvSpPr>
          <p:cNvPr id="19" name="Text 16"/>
          <p:cNvSpPr txBox="1"/>
          <p:nvPr/>
        </p:nvSpPr>
        <p:spPr>
          <a:xfrm>
            <a:off x="7040880" y="4270248"/>
            <a:ext cx="4480560" cy="329184"/>
          </a:xfrm>
          <a:prstGeom prst="rect">
            <a:avLst/>
          </a:prstGeom>
          <a:noFill/>
          <a:ln/>
        </p:spPr>
        <p:txBody>
          <a:bodyPr wrap="square" lIns="0" tIns="0" rIns="0" bIns="0" rtlCol="0" anchor="t"/>
          <a:lstStyle/>
          <a:p>
            <a:pPr indent="0" marL="0">
              <a:buNone/>
            </a:pPr>
            <a:r>
              <a:rPr lang="en-US" sz="1600" b="1" dirty="0">
                <a:solidFill>
                  <a:srgbClr val="14171C"/>
                </a:solidFill>
                <a:latin typeface="Arial" pitchFamily="34" charset="0"/>
                <a:ea typeface="Arial" pitchFamily="34" charset="-122"/>
                <a:cs typeface="Arial" pitchFamily="34" charset="-120"/>
              </a:rPr>
              <a:t>Kept only if accuracy goes up</a:t>
            </a:r>
            <a:endParaRPr lang="en-US" sz="1600" dirty="0"/>
          </a:p>
        </p:txBody>
      </p:sp>
      <p:sp>
        <p:nvSpPr>
          <p:cNvPr id="20" name="Text 17"/>
          <p:cNvSpPr txBox="1"/>
          <p:nvPr/>
        </p:nvSpPr>
        <p:spPr>
          <a:xfrm>
            <a:off x="7040880" y="4617720"/>
            <a:ext cx="4480560" cy="365760"/>
          </a:xfrm>
          <a:prstGeom prst="rect">
            <a:avLst/>
          </a:prstGeom>
          <a:noFill/>
          <a:ln/>
        </p:spPr>
        <p:txBody>
          <a:bodyPr wrap="square" lIns="0" tIns="0" rIns="0" bIns="0" rtlCol="0" anchor="t"/>
          <a:lstStyle/>
          <a:p>
            <a:pPr indent="0" marL="0">
              <a:buNone/>
            </a:pPr>
            <a:r>
              <a:rPr lang="en-US" sz="1300" dirty="0">
                <a:solidFill>
                  <a:srgbClr val="5B6270"/>
                </a:solidFill>
                <a:latin typeface="Calibri" pitchFamily="34" charset="0"/>
                <a:ea typeface="Calibri" pitchFamily="34" charset="-122"/>
                <a:cs typeface="Calibri" pitchFamily="34" charset="-120"/>
              </a:rPr>
              <a:t>Otherwise rejected, and the reason is shown.</a:t>
            </a:r>
            <a:endParaRPr lang="en-US" sz="1300" dirty="0"/>
          </a:p>
        </p:txBody>
      </p:sp>
      <p:sp>
        <p:nvSpPr>
          <p:cNvPr id="21" name="Shape 18"/>
          <p:cNvSpPr/>
          <p:nvPr/>
        </p:nvSpPr>
        <p:spPr>
          <a:xfrm>
            <a:off x="640080" y="5349240"/>
            <a:ext cx="10908792" cy="1005840"/>
          </a:xfrm>
          <a:prstGeom prst="roundRect">
            <a:avLst>
              <a:gd name="adj" fmla="val 16364"/>
            </a:avLst>
          </a:prstGeom>
          <a:solidFill>
            <a:srgbClr val="F4F6F0"/>
          </a:solidFill>
          <a:ln w="9525">
            <a:solidFill>
              <a:srgbClr val="E3E6DE"/>
            </a:solidFill>
            <a:prstDash val="solid"/>
          </a:ln>
        </p:spPr>
      </p:sp>
      <p:sp>
        <p:nvSpPr>
          <p:cNvPr id="22" name="Text 19"/>
          <p:cNvSpPr txBox="1"/>
          <p:nvPr/>
        </p:nvSpPr>
        <p:spPr>
          <a:xfrm>
            <a:off x="914400" y="5458968"/>
            <a:ext cx="822960" cy="786384"/>
          </a:xfrm>
          <a:prstGeom prst="rect">
            <a:avLst/>
          </a:prstGeom>
          <a:noFill/>
          <a:ln/>
        </p:spPr>
        <p:txBody>
          <a:bodyPr wrap="square" lIns="0" tIns="0" rIns="0" bIns="0" rtlCol="0" anchor="ctr"/>
          <a:lstStyle/>
          <a:p>
            <a:pPr indent="0" marL="0">
              <a:buNone/>
            </a:pPr>
            <a:r>
              <a:rPr lang="en-US" sz="3000" b="1" dirty="0">
                <a:solidFill>
                  <a:srgbClr val="14171C"/>
                </a:solidFill>
                <a:latin typeface="Arial" pitchFamily="34" charset="0"/>
                <a:ea typeface="Arial" pitchFamily="34" charset="-122"/>
                <a:cs typeface="Arial" pitchFamily="34" charset="-120"/>
              </a:rPr>
              <a:t>87</a:t>
            </a:r>
            <a:endParaRPr lang="en-US" sz="3000" dirty="0"/>
          </a:p>
        </p:txBody>
      </p:sp>
      <p:sp>
        <p:nvSpPr>
          <p:cNvPr id="23" name="Text 20"/>
          <p:cNvSpPr txBox="1"/>
          <p:nvPr/>
        </p:nvSpPr>
        <p:spPr>
          <a:xfrm>
            <a:off x="1691640" y="5458968"/>
            <a:ext cx="1097280" cy="786384"/>
          </a:xfrm>
          <a:prstGeom prst="rect">
            <a:avLst/>
          </a:prstGeom>
          <a:noFill/>
          <a:ln/>
        </p:spPr>
        <p:txBody>
          <a:bodyPr wrap="square" lIns="0" tIns="0" rIns="0" bIns="0" rtlCol="0" anchor="ctr"/>
          <a:lstStyle/>
          <a:p>
            <a:pPr indent="0" marL="0">
              <a:buNone/>
            </a:pPr>
            <a:r>
              <a:rPr lang="en-US" sz="1200" dirty="0">
                <a:solidFill>
                  <a:srgbClr val="5B6270"/>
                </a:solidFill>
                <a:latin typeface="Calibri" pitchFamily="34" charset="0"/>
                <a:ea typeface="Calibri" pitchFamily="34" charset="-122"/>
                <a:cs typeface="Calibri" pitchFamily="34" charset="-120"/>
              </a:rPr>
              <a:t>unit and</a:t>
            </a:r>
            <a:endParaRPr lang="en-US" sz="1200" dirty="0"/>
          </a:p>
          <a:p>
            <a:pPr indent="0" marL="0">
              <a:buNone/>
            </a:pPr>
            <a:r>
              <a:rPr lang="en-US" sz="1200" dirty="0">
                <a:solidFill>
                  <a:srgbClr val="5B6270"/>
                </a:solidFill>
                <a:latin typeface="Calibri" pitchFamily="34" charset="0"/>
                <a:ea typeface="Calibri" pitchFamily="34" charset="-122"/>
                <a:cs typeface="Calibri" pitchFamily="34" charset="-120"/>
              </a:rPr>
              <a:t>API tests</a:t>
            </a:r>
            <a:endParaRPr lang="en-US" sz="1200" dirty="0"/>
          </a:p>
        </p:txBody>
      </p:sp>
      <p:sp>
        <p:nvSpPr>
          <p:cNvPr id="24" name="Text 21"/>
          <p:cNvSpPr txBox="1"/>
          <p:nvPr/>
        </p:nvSpPr>
        <p:spPr>
          <a:xfrm>
            <a:off x="2926080" y="5458968"/>
            <a:ext cx="411480" cy="786384"/>
          </a:xfrm>
          <a:prstGeom prst="rect">
            <a:avLst/>
          </a:prstGeom>
          <a:noFill/>
          <a:ln/>
        </p:spPr>
        <p:txBody>
          <a:bodyPr wrap="square" lIns="0" tIns="0" rIns="0" bIns="0" rtlCol="0" anchor="ctr"/>
          <a:lstStyle/>
          <a:p>
            <a:pPr indent="0" marL="0">
              <a:buNone/>
            </a:pPr>
            <a:r>
              <a:rPr lang="en-US" sz="3000" b="1" dirty="0">
                <a:solidFill>
                  <a:srgbClr val="14171C"/>
                </a:solidFill>
                <a:latin typeface="Arial" pitchFamily="34" charset="0"/>
                <a:ea typeface="Arial" pitchFamily="34" charset="-122"/>
                <a:cs typeface="Arial" pitchFamily="34" charset="-120"/>
              </a:rPr>
              <a:t>7</a:t>
            </a:r>
            <a:endParaRPr lang="en-US" sz="3000" dirty="0"/>
          </a:p>
        </p:txBody>
      </p:sp>
      <p:sp>
        <p:nvSpPr>
          <p:cNvPr id="25" name="Text 22"/>
          <p:cNvSpPr txBox="1"/>
          <p:nvPr/>
        </p:nvSpPr>
        <p:spPr>
          <a:xfrm>
            <a:off x="3337560" y="5458968"/>
            <a:ext cx="1280160" cy="786384"/>
          </a:xfrm>
          <a:prstGeom prst="rect">
            <a:avLst/>
          </a:prstGeom>
          <a:noFill/>
          <a:ln/>
        </p:spPr>
        <p:txBody>
          <a:bodyPr wrap="square" lIns="0" tIns="0" rIns="0" bIns="0" rtlCol="0" anchor="ctr"/>
          <a:lstStyle/>
          <a:p>
            <a:pPr indent="0" marL="0">
              <a:buNone/>
            </a:pPr>
            <a:r>
              <a:rPr lang="en-US" sz="1200" dirty="0">
                <a:solidFill>
                  <a:srgbClr val="5B6270"/>
                </a:solidFill>
                <a:latin typeface="Calibri" pitchFamily="34" charset="0"/>
                <a:ea typeface="Calibri" pitchFamily="34" charset="-122"/>
                <a:cs typeface="Calibri" pitchFamily="34" charset="-120"/>
              </a:rPr>
              <a:t>end-to-end</a:t>
            </a:r>
            <a:endParaRPr lang="en-US" sz="1200" dirty="0"/>
          </a:p>
          <a:p>
            <a:pPr indent="0" marL="0">
              <a:buNone/>
            </a:pPr>
            <a:r>
              <a:rPr lang="en-US" sz="1200" dirty="0">
                <a:solidFill>
                  <a:srgbClr val="5B6270"/>
                </a:solidFill>
                <a:latin typeface="Calibri" pitchFamily="34" charset="0"/>
                <a:ea typeface="Calibri" pitchFamily="34" charset="-122"/>
                <a:cs typeface="Calibri" pitchFamily="34" charset="-120"/>
              </a:rPr>
              <a:t>browser specs</a:t>
            </a:r>
            <a:endParaRPr lang="en-US" sz="1200" dirty="0"/>
          </a:p>
        </p:txBody>
      </p:sp>
      <p:sp>
        <p:nvSpPr>
          <p:cNvPr id="26" name="Shape 23"/>
          <p:cNvSpPr/>
          <p:nvPr/>
        </p:nvSpPr>
        <p:spPr>
          <a:xfrm>
            <a:off x="4754880" y="5687568"/>
            <a:ext cx="778520" cy="329184"/>
          </a:xfrm>
          <a:prstGeom prst="roundRect">
            <a:avLst>
              <a:gd name="adj" fmla="val 50000"/>
            </a:avLst>
          </a:prstGeom>
          <a:solidFill>
            <a:srgbClr val="FFFFFF"/>
          </a:solidFill>
          <a:ln w="9525">
            <a:solidFill>
              <a:srgbClr val="E3E6DE"/>
            </a:solidFill>
            <a:prstDash val="solid"/>
          </a:ln>
        </p:spPr>
      </p:sp>
      <p:sp>
        <p:nvSpPr>
          <p:cNvPr id="27" name="Text 24"/>
          <p:cNvSpPr txBox="1"/>
          <p:nvPr/>
        </p:nvSpPr>
        <p:spPr>
          <a:xfrm>
            <a:off x="4754880" y="5687568"/>
            <a:ext cx="778520" cy="329184"/>
          </a:xfrm>
          <a:prstGeom prst="rect">
            <a:avLst/>
          </a:prstGeom>
          <a:noFill/>
          <a:ln/>
        </p:spPr>
        <p:txBody>
          <a:bodyPr wrap="square" lIns="0" tIns="0" rIns="0" bIns="0" rtlCol="0" anchor="ctr"/>
          <a:lstStyle/>
          <a:p>
            <a:pPr algn="ctr" indent="0" marL="0">
              <a:buNone/>
            </a:pPr>
            <a:r>
              <a:rPr lang="en-US" sz="1050" dirty="0">
                <a:solidFill>
                  <a:srgbClr val="14171C"/>
                </a:solidFill>
                <a:latin typeface="Arial" pitchFamily="34" charset="0"/>
                <a:ea typeface="Arial" pitchFamily="34" charset="-122"/>
                <a:cs typeface="Arial" pitchFamily="34" charset="-120"/>
              </a:rPr>
              <a:t>Python</a:t>
            </a:r>
            <a:endParaRPr lang="en-US" sz="1050" dirty="0"/>
          </a:p>
        </p:txBody>
      </p:sp>
      <p:sp>
        <p:nvSpPr>
          <p:cNvPr id="28" name="Shape 25"/>
          <p:cNvSpPr/>
          <p:nvPr/>
        </p:nvSpPr>
        <p:spPr>
          <a:xfrm>
            <a:off x="5624840" y="5687568"/>
            <a:ext cx="853410" cy="329184"/>
          </a:xfrm>
          <a:prstGeom prst="roundRect">
            <a:avLst>
              <a:gd name="adj" fmla="val 50000"/>
            </a:avLst>
          </a:prstGeom>
          <a:solidFill>
            <a:srgbClr val="FFFFFF"/>
          </a:solidFill>
          <a:ln w="9525">
            <a:solidFill>
              <a:srgbClr val="E3E6DE"/>
            </a:solidFill>
            <a:prstDash val="solid"/>
          </a:ln>
        </p:spPr>
      </p:sp>
      <p:sp>
        <p:nvSpPr>
          <p:cNvPr id="29" name="Text 26"/>
          <p:cNvSpPr txBox="1"/>
          <p:nvPr/>
        </p:nvSpPr>
        <p:spPr>
          <a:xfrm>
            <a:off x="5624840" y="5687568"/>
            <a:ext cx="853410" cy="329184"/>
          </a:xfrm>
          <a:prstGeom prst="rect">
            <a:avLst/>
          </a:prstGeom>
          <a:noFill/>
          <a:ln/>
        </p:spPr>
        <p:txBody>
          <a:bodyPr wrap="square" lIns="0" tIns="0" rIns="0" bIns="0" rtlCol="0" anchor="ctr"/>
          <a:lstStyle/>
          <a:p>
            <a:pPr algn="ctr" indent="0" marL="0">
              <a:buNone/>
            </a:pPr>
            <a:r>
              <a:rPr lang="en-US" sz="1050" dirty="0">
                <a:solidFill>
                  <a:srgbClr val="14171C"/>
                </a:solidFill>
                <a:latin typeface="Arial" pitchFamily="34" charset="0"/>
                <a:ea typeface="Arial" pitchFamily="34" charset="-122"/>
                <a:cs typeface="Arial" pitchFamily="34" charset="-120"/>
              </a:rPr>
              <a:t>FastAPI</a:t>
            </a:r>
            <a:endParaRPr lang="en-US" sz="1050" dirty="0"/>
          </a:p>
        </p:txBody>
      </p:sp>
      <p:sp>
        <p:nvSpPr>
          <p:cNvPr id="30" name="Shape 27"/>
          <p:cNvSpPr/>
          <p:nvPr/>
        </p:nvSpPr>
        <p:spPr>
          <a:xfrm>
            <a:off x="6569690" y="5687568"/>
            <a:ext cx="1078078" cy="329184"/>
          </a:xfrm>
          <a:prstGeom prst="roundRect">
            <a:avLst>
              <a:gd name="adj" fmla="val 50000"/>
            </a:avLst>
          </a:prstGeom>
          <a:solidFill>
            <a:srgbClr val="FFFFFF"/>
          </a:solidFill>
          <a:ln w="9525">
            <a:solidFill>
              <a:srgbClr val="E3E6DE"/>
            </a:solidFill>
            <a:prstDash val="solid"/>
          </a:ln>
        </p:spPr>
      </p:sp>
      <p:sp>
        <p:nvSpPr>
          <p:cNvPr id="31" name="Text 28"/>
          <p:cNvSpPr txBox="1"/>
          <p:nvPr/>
        </p:nvSpPr>
        <p:spPr>
          <a:xfrm>
            <a:off x="6569690" y="5687568"/>
            <a:ext cx="1078078" cy="329184"/>
          </a:xfrm>
          <a:prstGeom prst="rect">
            <a:avLst/>
          </a:prstGeom>
          <a:noFill/>
          <a:ln/>
        </p:spPr>
        <p:txBody>
          <a:bodyPr wrap="square" lIns="0" tIns="0" rIns="0" bIns="0" rtlCol="0" anchor="ctr"/>
          <a:lstStyle/>
          <a:p>
            <a:pPr algn="ctr" indent="0" marL="0">
              <a:buNone/>
            </a:pPr>
            <a:r>
              <a:rPr lang="en-US" sz="1050" dirty="0">
                <a:solidFill>
                  <a:srgbClr val="14171C"/>
                </a:solidFill>
                <a:latin typeface="Arial" pitchFamily="34" charset="0"/>
                <a:ea typeface="Arial" pitchFamily="34" charset="-122"/>
                <a:cs typeface="Arial" pitchFamily="34" charset="-120"/>
              </a:rPr>
              <a:t>Next.js 16</a:t>
            </a:r>
            <a:endParaRPr lang="en-US" sz="1050" dirty="0"/>
          </a:p>
        </p:txBody>
      </p:sp>
      <p:sp>
        <p:nvSpPr>
          <p:cNvPr id="32" name="Shape 29"/>
          <p:cNvSpPr/>
          <p:nvPr/>
        </p:nvSpPr>
        <p:spPr>
          <a:xfrm>
            <a:off x="7739207" y="5687568"/>
            <a:ext cx="778520" cy="329184"/>
          </a:xfrm>
          <a:prstGeom prst="roundRect">
            <a:avLst>
              <a:gd name="adj" fmla="val 50000"/>
            </a:avLst>
          </a:prstGeom>
          <a:solidFill>
            <a:srgbClr val="FFFFFF"/>
          </a:solidFill>
          <a:ln w="9525">
            <a:solidFill>
              <a:srgbClr val="E3E6DE"/>
            </a:solidFill>
            <a:prstDash val="solid"/>
          </a:ln>
        </p:spPr>
      </p:sp>
      <p:sp>
        <p:nvSpPr>
          <p:cNvPr id="33" name="Text 30"/>
          <p:cNvSpPr txBox="1"/>
          <p:nvPr/>
        </p:nvSpPr>
        <p:spPr>
          <a:xfrm>
            <a:off x="7739207" y="5687568"/>
            <a:ext cx="778520" cy="329184"/>
          </a:xfrm>
          <a:prstGeom prst="rect">
            <a:avLst/>
          </a:prstGeom>
          <a:noFill/>
          <a:ln/>
        </p:spPr>
        <p:txBody>
          <a:bodyPr wrap="square" lIns="0" tIns="0" rIns="0" bIns="0" rtlCol="0" anchor="ctr"/>
          <a:lstStyle/>
          <a:p>
            <a:pPr algn="ctr" indent="0" marL="0">
              <a:buNone/>
            </a:pPr>
            <a:r>
              <a:rPr lang="en-US" sz="1050" dirty="0">
                <a:solidFill>
                  <a:srgbClr val="14171C"/>
                </a:solidFill>
                <a:latin typeface="Arial" pitchFamily="34" charset="0"/>
                <a:ea typeface="Arial" pitchFamily="34" charset="-122"/>
                <a:cs typeface="Arial" pitchFamily="34" charset="-120"/>
              </a:rPr>
              <a:t>Gemini</a:t>
            </a:r>
            <a:endParaRPr lang="en-US" sz="1050" dirty="0"/>
          </a:p>
        </p:txBody>
      </p:sp>
      <p:sp>
        <p:nvSpPr>
          <p:cNvPr id="34" name="Shape 31"/>
          <p:cNvSpPr/>
          <p:nvPr/>
        </p:nvSpPr>
        <p:spPr>
          <a:xfrm>
            <a:off x="8609167" y="5687568"/>
            <a:ext cx="1152967" cy="329184"/>
          </a:xfrm>
          <a:prstGeom prst="roundRect">
            <a:avLst>
              <a:gd name="adj" fmla="val 50000"/>
            </a:avLst>
          </a:prstGeom>
          <a:solidFill>
            <a:srgbClr val="FFFFFF"/>
          </a:solidFill>
          <a:ln w="9525">
            <a:solidFill>
              <a:srgbClr val="E3E6DE"/>
            </a:solidFill>
            <a:prstDash val="solid"/>
          </a:ln>
        </p:spPr>
      </p:sp>
      <p:sp>
        <p:nvSpPr>
          <p:cNvPr id="35" name="Text 32"/>
          <p:cNvSpPr txBox="1"/>
          <p:nvPr/>
        </p:nvSpPr>
        <p:spPr>
          <a:xfrm>
            <a:off x="8609167" y="5687568"/>
            <a:ext cx="1152967" cy="329184"/>
          </a:xfrm>
          <a:prstGeom prst="rect">
            <a:avLst/>
          </a:prstGeom>
          <a:noFill/>
          <a:ln/>
        </p:spPr>
        <p:txBody>
          <a:bodyPr wrap="square" lIns="0" tIns="0" rIns="0" bIns="0" rtlCol="0" anchor="ctr"/>
          <a:lstStyle/>
          <a:p>
            <a:pPr algn="ctr" indent="0" marL="0">
              <a:buNone/>
            </a:pPr>
            <a:r>
              <a:rPr lang="en-US" sz="1050" dirty="0">
                <a:solidFill>
                  <a:srgbClr val="14171C"/>
                </a:solidFill>
                <a:latin typeface="Arial" pitchFamily="34" charset="0"/>
                <a:ea typeface="Arial" pitchFamily="34" charset="-122"/>
                <a:cs typeface="Arial" pitchFamily="34" charset="-120"/>
              </a:rPr>
              <a:t>Gemini Live</a:t>
            </a:r>
            <a:endParaRPr lang="en-US" sz="1050" dirty="0"/>
          </a:p>
        </p:txBody>
      </p:sp>
      <p:sp>
        <p:nvSpPr>
          <p:cNvPr id="36" name="Shape 33"/>
          <p:cNvSpPr/>
          <p:nvPr/>
        </p:nvSpPr>
        <p:spPr>
          <a:xfrm>
            <a:off x="9853574" y="5687568"/>
            <a:ext cx="1302746" cy="329184"/>
          </a:xfrm>
          <a:prstGeom prst="roundRect">
            <a:avLst>
              <a:gd name="adj" fmla="val 50000"/>
            </a:avLst>
          </a:prstGeom>
          <a:solidFill>
            <a:srgbClr val="FFFFFF"/>
          </a:solidFill>
          <a:ln w="9525">
            <a:solidFill>
              <a:srgbClr val="E3E6DE"/>
            </a:solidFill>
            <a:prstDash val="solid"/>
          </a:ln>
        </p:spPr>
      </p:sp>
      <p:sp>
        <p:nvSpPr>
          <p:cNvPr id="37" name="Text 34"/>
          <p:cNvSpPr txBox="1"/>
          <p:nvPr/>
        </p:nvSpPr>
        <p:spPr>
          <a:xfrm>
            <a:off x="9853574" y="5687568"/>
            <a:ext cx="1302746" cy="329184"/>
          </a:xfrm>
          <a:prstGeom prst="rect">
            <a:avLst/>
          </a:prstGeom>
          <a:noFill/>
          <a:ln/>
        </p:spPr>
        <p:txBody>
          <a:bodyPr wrap="square" lIns="0" tIns="0" rIns="0" bIns="0" rtlCol="0" anchor="ctr"/>
          <a:lstStyle/>
          <a:p>
            <a:pPr algn="ctr" indent="0" marL="0">
              <a:buNone/>
            </a:pPr>
            <a:r>
              <a:rPr lang="en-US" sz="1050" dirty="0">
                <a:solidFill>
                  <a:srgbClr val="14171C"/>
                </a:solidFill>
                <a:latin typeface="Arial" pitchFamily="34" charset="0"/>
                <a:ea typeface="Arial" pitchFamily="34" charset="-122"/>
                <a:cs typeface="Arial" pitchFamily="34" charset="-120"/>
              </a:rPr>
              <a:t>OpenStreetMap</a:t>
            </a:r>
            <a:endParaRPr lang="en-US" sz="1050" dirty="0"/>
          </a:p>
        </p:txBody>
      </p:sp>
      <p:sp>
        <p:nvSpPr>
          <p:cNvPr id="38" name="Text 35"/>
          <p:cNvSpPr txBox="1"/>
          <p:nvPr/>
        </p:nvSpPr>
        <p:spPr>
          <a:xfrm>
            <a:off x="640080" y="6446520"/>
            <a:ext cx="7315200" cy="228600"/>
          </a:xfrm>
          <a:prstGeom prst="rect">
            <a:avLst/>
          </a:prstGeom>
          <a:noFill/>
          <a:ln/>
        </p:spPr>
        <p:txBody>
          <a:bodyPr wrap="square" lIns="0" tIns="0" rIns="0" bIns="0" rtlCol="0" anchor="t"/>
          <a:lstStyle/>
          <a:p>
            <a:pPr indent="0" marL="0">
              <a:buNone/>
            </a:pPr>
            <a:r>
              <a:rPr lang="en-US" sz="900" i="1" dirty="0">
                <a:solidFill>
                  <a:srgbClr val="9AA0A8"/>
                </a:solidFill>
                <a:latin typeface="Calibri" pitchFamily="34" charset="0"/>
                <a:ea typeface="Calibri" pitchFamily="34" charset="-122"/>
                <a:cs typeface="Calibri" pitchFamily="34" charset="-120"/>
              </a:rPr>
              <a:t>Screenshot: the app running on the end-to-end test data set.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Prospector</dc:title>
  <dc:subject>PptxGenJS Presentation</dc:subject>
  <dc:creator>Nilesh Patil</dc:creator>
  <cp:lastModifiedBy>Nilesh Patil</cp:lastModifiedBy>
  <cp:revision>1</cp:revision>
  <dcterms:created xsi:type="dcterms:W3CDTF">2026-09-27T17:38:36Z</dcterms:created>
  <dcterms:modified xsi:type="dcterms:W3CDTF">2026-09-27T17:38:36Z</dcterms:modified>
</cp:coreProperties>
</file>